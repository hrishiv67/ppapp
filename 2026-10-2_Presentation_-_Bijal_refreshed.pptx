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photo" descr="/tmp/claude-0/-home-user-Ppapp/b4da115c-35eb-5dad-8ee6-555569176c7b/scratchpad/build/img/title_p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0"/>
            <a:ext cx="5105095" cy="6858000"/>
          </a:xfrm>
          <a:prstGeom prst="rect">
            <a:avLst/>
          </a:prstGeom>
        </p:spPr>
      </p:pic>
      <p:sp>
        <p:nvSpPr>
          <p:cNvPr id="3" name="Photo tint"/>
          <p:cNvSpPr/>
          <p:nvPr/>
        </p:nvSpPr>
        <p:spPr>
          <a:xfrm>
            <a:off x="7086600" y="0"/>
            <a:ext cx="5105095" cy="6858000"/>
          </a:xfrm>
          <a:prstGeom prst="rect">
            <a:avLst/>
          </a:prstGeom>
          <a:solidFill>
            <a:srgbClr val="0B2545">
              <a:alpha val="38000"/>
            </a:srgbClr>
          </a:solidFill>
          <a:ln/>
        </p:spPr>
      </p:sp>
      <p:sp>
        <p:nvSpPr>
          <p:cNvPr id="4" name="Decor"/>
          <p:cNvSpPr/>
          <p:nvPr/>
        </p:nvSpPr>
        <p:spPr>
          <a:xfrm>
            <a:off x="-1280160" y="4937760"/>
            <a:ext cx="4206240" cy="4206240"/>
          </a:xfrm>
          <a:prstGeom prst="ellipse">
            <a:avLst/>
          </a:prstGeom>
          <a:solidFill>
            <a:srgbClr val="4B9CD3">
              <a:alpha val="10000"/>
            </a:srgbClr>
          </a:solidFill>
          <a:ln/>
        </p:spPr>
      </p:sp>
      <p:sp>
        <p:nvSpPr>
          <p:cNvPr id="5" name="Eyebrow"/>
          <p:cNvSpPr txBox="1"/>
          <p:nvPr/>
        </p:nvSpPr>
        <p:spPr>
          <a:xfrm>
            <a:off x="731520" y="7772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4B9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Accounting &amp; Tax Solutions Offsite Training</a:t>
            </a:r>
            <a:endParaRPr lang="en-US" sz="1600" dirty="0"/>
          </a:p>
        </p:txBody>
      </p:sp>
      <p:sp>
        <p:nvSpPr>
          <p:cNvPr id="6" name="Title"/>
          <p:cNvSpPr txBox="1"/>
          <p:nvPr/>
        </p:nvSpPr>
        <p:spPr>
          <a:xfrm>
            <a:off x="731520" y="160020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Tax Organizer</a:t>
            </a:r>
            <a:endParaRPr lang="en-US" sz="5400" dirty="0"/>
          </a:p>
        </p:txBody>
      </p:sp>
      <p:sp>
        <p:nvSpPr>
          <p:cNvPr id="7" name="Subtitle"/>
          <p:cNvSpPr txBox="1"/>
          <p:nvPr/>
        </p:nvSpPr>
        <p:spPr>
          <a:xfrm>
            <a:off x="731520" y="34290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13 Financials, Review Checklist &amp; Business Questionnaire</a:t>
            </a:r>
            <a:endParaRPr lang="en-US" sz="2400" dirty="0"/>
          </a:p>
        </p:txBody>
      </p:sp>
      <p:sp>
        <p:nvSpPr>
          <p:cNvPr id="8" name="Presenter"/>
          <p:cNvSpPr txBox="1"/>
          <p:nvPr/>
        </p:nvSpPr>
        <p:spPr>
          <a:xfrm>
            <a:off x="731520" y="51663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Bijal Khatiwala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2, 2026</a:t>
            </a:r>
            <a:endParaRPr lang="en-US" sz="2200" dirty="0"/>
          </a:p>
        </p:txBody>
      </p:sp>
      <p:pic>
        <p:nvPicPr>
          <p:cNvPr id="9" name="Taglin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43984"/>
            <a:ext cx="310896" cy="310896"/>
          </a:xfrm>
          <a:prstGeom prst="rect">
            <a:avLst/>
          </a:prstGeom>
        </p:spPr>
      </p:pic>
      <p:sp>
        <p:nvSpPr>
          <p:cNvPr id="10" name="Tagline"/>
          <p:cNvSpPr txBox="1"/>
          <p:nvPr/>
        </p:nvSpPr>
        <p:spPr>
          <a:xfrm>
            <a:off x="1161288" y="438912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chaos. More checkmarks.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9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Tax Organizer – Bijal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4000" dirty="0"/>
          </a:p>
        </p:txBody>
      </p:sp>
      <p:sp>
        <p:nvSpPr>
          <p:cNvPr id="4" name="Agenda card 1"/>
          <p:cNvSpPr/>
          <p:nvPr/>
        </p:nvSpPr>
        <p:spPr>
          <a:xfrm>
            <a:off x="548640" y="2057400"/>
            <a:ext cx="2606040" cy="36576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3ECF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5" name="Agenda num 1"/>
          <p:cNvSpPr txBox="1"/>
          <p:nvPr/>
        </p:nvSpPr>
        <p:spPr>
          <a:xfrm>
            <a:off x="82296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5DB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Agenda circle 1"/>
          <p:cNvSpPr/>
          <p:nvPr/>
        </p:nvSpPr>
        <p:spPr>
          <a:xfrm>
            <a:off x="2057400" y="2331720"/>
            <a:ext cx="822960" cy="82296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7" name="Agenda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2542032"/>
            <a:ext cx="402336" cy="402336"/>
          </a:xfrm>
          <a:prstGeom prst="rect">
            <a:avLst/>
          </a:prstGeom>
        </p:spPr>
      </p:pic>
      <p:sp>
        <p:nvSpPr>
          <p:cNvPr id="8" name="Agenda text 1"/>
          <p:cNvSpPr txBox="1"/>
          <p:nvPr/>
        </p:nvSpPr>
        <p:spPr>
          <a:xfrm>
            <a:off x="822960" y="356616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Purpose and Use of Biz Tax Organizer</a:t>
            </a:r>
            <a:endParaRPr lang="en-US" sz="2100" dirty="0"/>
          </a:p>
        </p:txBody>
      </p:sp>
      <p:sp>
        <p:nvSpPr>
          <p:cNvPr id="9" name="Agenda card 2"/>
          <p:cNvSpPr/>
          <p:nvPr/>
        </p:nvSpPr>
        <p:spPr>
          <a:xfrm>
            <a:off x="3429000" y="2057400"/>
            <a:ext cx="2606040" cy="36576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3ECF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0" name="Agenda num 2"/>
          <p:cNvSpPr txBox="1"/>
          <p:nvPr/>
        </p:nvSpPr>
        <p:spPr>
          <a:xfrm>
            <a:off x="370332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5DB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Agenda circle 2"/>
          <p:cNvSpPr/>
          <p:nvPr/>
        </p:nvSpPr>
        <p:spPr>
          <a:xfrm>
            <a:off x="4937760" y="2331720"/>
            <a:ext cx="822960" cy="82296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12" name="Agenda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2542032"/>
            <a:ext cx="402336" cy="402336"/>
          </a:xfrm>
          <a:prstGeom prst="rect">
            <a:avLst/>
          </a:prstGeom>
        </p:spPr>
      </p:pic>
      <p:sp>
        <p:nvSpPr>
          <p:cNvPr id="13" name="Agenda text 2"/>
          <p:cNvSpPr txBox="1"/>
          <p:nvPr/>
        </p:nvSpPr>
        <p:spPr>
          <a:xfrm>
            <a:off x="3703320" y="356616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Biz Tax Information from Client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Organizer Letter &amp; Customization, Attachments</a:t>
            </a:r>
            <a:endParaRPr lang="en-US" sz="2100" dirty="0"/>
          </a:p>
        </p:txBody>
      </p:sp>
      <p:sp>
        <p:nvSpPr>
          <p:cNvPr id="14" name="Agenda card 3"/>
          <p:cNvSpPr/>
          <p:nvPr/>
        </p:nvSpPr>
        <p:spPr>
          <a:xfrm>
            <a:off x="6309360" y="2057400"/>
            <a:ext cx="2606040" cy="36576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3ECF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5" name="Agenda num 3"/>
          <p:cNvSpPr txBox="1"/>
          <p:nvPr/>
        </p:nvSpPr>
        <p:spPr>
          <a:xfrm>
            <a:off x="658368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5DB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Agenda circle 3"/>
          <p:cNvSpPr/>
          <p:nvPr/>
        </p:nvSpPr>
        <p:spPr>
          <a:xfrm>
            <a:off x="7818120" y="2331720"/>
            <a:ext cx="822960" cy="82296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17" name="Agenda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2542032"/>
            <a:ext cx="402336" cy="402336"/>
          </a:xfrm>
          <a:prstGeom prst="rect">
            <a:avLst/>
          </a:prstGeom>
        </p:spPr>
      </p:pic>
      <p:sp>
        <p:nvSpPr>
          <p:cNvPr id="18" name="Agenda text 3"/>
          <p:cNvSpPr txBox="1"/>
          <p:nvPr/>
        </p:nvSpPr>
        <p:spPr>
          <a:xfrm>
            <a:off x="6583680" y="356616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 Considerations – Capitalize vs. Expense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Sample Questions</a:t>
            </a:r>
            <a:endParaRPr lang="en-US" sz="2100" dirty="0"/>
          </a:p>
        </p:txBody>
      </p:sp>
      <p:sp>
        <p:nvSpPr>
          <p:cNvPr id="19" name="Agenda card 4"/>
          <p:cNvSpPr/>
          <p:nvPr/>
        </p:nvSpPr>
        <p:spPr>
          <a:xfrm>
            <a:off x="9189720" y="2057400"/>
            <a:ext cx="2606040" cy="36576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3ECF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20" name="Agenda num 4"/>
          <p:cNvSpPr txBox="1"/>
          <p:nvPr/>
        </p:nvSpPr>
        <p:spPr>
          <a:xfrm>
            <a:off x="946404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5DB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Agenda circle 4"/>
          <p:cNvSpPr/>
          <p:nvPr/>
        </p:nvSpPr>
        <p:spPr>
          <a:xfrm>
            <a:off x="10698480" y="2331720"/>
            <a:ext cx="822960" cy="822960"/>
          </a:xfrm>
          <a:prstGeom prst="ellipse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pic>
        <p:nvPicPr>
          <p:cNvPr id="22" name="Agenda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2542032"/>
            <a:ext cx="402336" cy="402336"/>
          </a:xfrm>
          <a:prstGeom prst="rect">
            <a:avLst/>
          </a:prstGeom>
        </p:spPr>
      </p:pic>
      <p:sp>
        <p:nvSpPr>
          <p:cNvPr id="23" name="Agenda text 4"/>
          <p:cNvSpPr txBox="1"/>
          <p:nvPr/>
        </p:nvSpPr>
        <p:spPr>
          <a:xfrm>
            <a:off x="9464040" y="356616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13 Checklist – Overview</a:t>
            </a:r>
            <a:endParaRPr lang="en-US" sz="21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6" grpId="0" animBg="1"/>
      <p:bldP spid="9" grpId="0" animBg="1"/>
      <p:bldP spid="10" grpId="0" animBg="1"/>
      <p:bldP spid="13" grpId="0" animBg="1"/>
      <p:bldP spid="11" grpId="0" animBg="1"/>
      <p:bldP spid="14" grpId="0" animBg="1"/>
      <p:bldP spid="15" grpId="0" animBg="1"/>
      <p:bldP spid="18" grpId="0" animBg="1"/>
      <p:bldP spid="16" grpId="0" animBg="1"/>
      <p:bldP spid="19" grpId="0" animBg="1"/>
      <p:bldP spid="20" grpId="0" animBg="1"/>
      <p:bldP spid="23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of Documents Required for Tax return:</a:t>
            </a:r>
            <a:endParaRPr lang="en-US" sz="3200" dirty="0"/>
          </a:p>
        </p:txBody>
      </p:sp>
      <p:sp>
        <p:nvSpPr>
          <p:cNvPr id="3" name="Doc row 1"/>
          <p:cNvSpPr/>
          <p:nvPr/>
        </p:nvSpPr>
        <p:spPr>
          <a:xfrm>
            <a:off x="548640" y="1188720"/>
            <a:ext cx="694944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11200" tIns="50800" rIns="127000" bIns="508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&amp; Completed Business Tax Questionnaire</a:t>
            </a:r>
            <a:endParaRPr lang="en-US" sz="1700" dirty="0"/>
          </a:p>
        </p:txBody>
      </p:sp>
      <p:sp>
        <p:nvSpPr>
          <p:cNvPr id="4" name="Doc badge 1"/>
          <p:cNvSpPr/>
          <p:nvPr/>
        </p:nvSpPr>
        <p:spPr>
          <a:xfrm>
            <a:off x="704088" y="1261872"/>
            <a:ext cx="402336" cy="402336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Doc row 2"/>
          <p:cNvSpPr/>
          <p:nvPr/>
        </p:nvSpPr>
        <p:spPr>
          <a:xfrm>
            <a:off x="548640" y="1847088"/>
            <a:ext cx="694944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11200" tIns="50800" rIns="127000" bIns="508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Per 13 Review checklist for 2026</a:t>
            </a:r>
            <a:endParaRPr lang="en-US" sz="1700" dirty="0"/>
          </a:p>
        </p:txBody>
      </p:sp>
      <p:sp>
        <p:nvSpPr>
          <p:cNvPr id="6" name="Doc badge 2"/>
          <p:cNvSpPr/>
          <p:nvPr/>
        </p:nvSpPr>
        <p:spPr>
          <a:xfrm>
            <a:off x="704088" y="1920240"/>
            <a:ext cx="402336" cy="402336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Doc row 3"/>
          <p:cNvSpPr/>
          <p:nvPr/>
        </p:nvSpPr>
        <p:spPr>
          <a:xfrm>
            <a:off x="548640" y="2505456"/>
            <a:ext cx="694944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11200" tIns="50800" rIns="127000" bIns="508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year’s Financials tied out with 2026 Balance sheet</a:t>
            </a:r>
            <a:endParaRPr lang="en-US" sz="1700" dirty="0"/>
          </a:p>
        </p:txBody>
      </p:sp>
      <p:sp>
        <p:nvSpPr>
          <p:cNvPr id="8" name="Doc badge 3"/>
          <p:cNvSpPr/>
          <p:nvPr/>
        </p:nvSpPr>
        <p:spPr>
          <a:xfrm>
            <a:off x="704088" y="2578608"/>
            <a:ext cx="402336" cy="402336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Doc row 4"/>
          <p:cNvSpPr/>
          <p:nvPr/>
        </p:nvSpPr>
        <p:spPr>
          <a:xfrm>
            <a:off x="548640" y="3163824"/>
            <a:ext cx="694944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11200" tIns="50800" rIns="127000" bIns="508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 (either filed by us or client)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tax extensions are filed, Annual Reports are still due by April 15, 2027</a:t>
            </a:r>
            <a:endParaRPr lang="en-US" sz="1700" dirty="0"/>
          </a:p>
        </p:txBody>
      </p:sp>
      <p:sp>
        <p:nvSpPr>
          <p:cNvPr id="10" name="Doc badge 4"/>
          <p:cNvSpPr/>
          <p:nvPr/>
        </p:nvSpPr>
        <p:spPr>
          <a:xfrm>
            <a:off x="704088" y="3474720"/>
            <a:ext cx="402336" cy="402336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Doc row 5"/>
          <p:cNvSpPr/>
          <p:nvPr/>
        </p:nvSpPr>
        <p:spPr>
          <a:xfrm>
            <a:off x="548640" y="4297680"/>
            <a:ext cx="694944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11200" tIns="50800" rIns="127000" bIns="508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1099’s issued &amp; W-2’s issued</a:t>
            </a:r>
            <a:endParaRPr lang="en-US" sz="1700" dirty="0"/>
          </a:p>
        </p:txBody>
      </p:sp>
      <p:sp>
        <p:nvSpPr>
          <p:cNvPr id="12" name="Doc badge 5"/>
          <p:cNvSpPr/>
          <p:nvPr/>
        </p:nvSpPr>
        <p:spPr>
          <a:xfrm>
            <a:off x="704088" y="4370832"/>
            <a:ext cx="402336" cy="402336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Doc row 6"/>
          <p:cNvSpPr/>
          <p:nvPr/>
        </p:nvSpPr>
        <p:spPr>
          <a:xfrm>
            <a:off x="548640" y="4956048"/>
            <a:ext cx="69494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11200" tIns="50800" rIns="127000" bIns="508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Financials – Complete &amp; Final (Meaning no suspense A/C items &amp; Loans tied out)</a:t>
            </a:r>
            <a:endParaRPr lang="en-US" sz="1700" dirty="0"/>
          </a:p>
        </p:txBody>
      </p:sp>
      <p:sp>
        <p:nvSpPr>
          <p:cNvPr id="14" name="Doc badge 6"/>
          <p:cNvSpPr/>
          <p:nvPr/>
        </p:nvSpPr>
        <p:spPr>
          <a:xfrm>
            <a:off x="704088" y="5189220"/>
            <a:ext cx="402336" cy="402336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5" name="Doc row 7"/>
          <p:cNvSpPr/>
          <p:nvPr/>
        </p:nvSpPr>
        <p:spPr>
          <a:xfrm>
            <a:off x="7726680" y="1188720"/>
            <a:ext cx="3913632" cy="4636008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9525">
            <a:solidFill>
              <a:srgbClr val="E3ECF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6" name="Doc badge 7"/>
          <p:cNvSpPr/>
          <p:nvPr/>
        </p:nvSpPr>
        <p:spPr>
          <a:xfrm>
            <a:off x="7955280" y="1408176"/>
            <a:ext cx="402336" cy="402336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17" name="Doc 7 title"/>
          <p:cNvSpPr txBox="1"/>
          <p:nvPr/>
        </p:nvSpPr>
        <p:spPr>
          <a:xfrm>
            <a:off x="8503920" y="137160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documents</a:t>
            </a:r>
            <a:endParaRPr lang="en-US" sz="1900" dirty="0"/>
          </a:p>
        </p:txBody>
      </p:sp>
      <p:sp>
        <p:nvSpPr>
          <p:cNvPr id="18" name="Doc 7 list"/>
          <p:cNvSpPr txBox="1"/>
          <p:nvPr/>
        </p:nvSpPr>
        <p:spPr>
          <a:xfrm>
            <a:off x="8001000" y="2057400"/>
            <a:ext cx="3364992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statements with ending balance as of Dec 31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2026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information completed – If accrual based or Home Office deduction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 DGL, Asset Purchase docs, Asset Disposal Information.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pocket expenses emails/spreadsheet if any.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information, if any.</a:t>
            </a:r>
            <a:endParaRPr lang="en-US" sz="1500" dirty="0"/>
          </a:p>
        </p:txBody>
      </p:sp>
      <p:sp>
        <p:nvSpPr>
          <p:cNvPr id="19" name="Doc callout"/>
          <p:cNvSpPr/>
          <p:nvPr/>
        </p:nvSpPr>
        <p:spPr>
          <a:xfrm>
            <a:off x="548640" y="5980176"/>
            <a:ext cx="11091672" cy="548640"/>
          </a:xfrm>
          <a:prstGeom prst="roundRect">
            <a:avLst>
              <a:gd name="adj" fmla="val 23333"/>
            </a:avLst>
          </a:prstGeom>
          <a:solidFill>
            <a:srgbClr val="0B2545"/>
          </a:solidFill>
          <a:ln w="6350">
            <a:solidFill>
              <a:srgbClr val="0B2545"/>
            </a:solidFill>
          </a:ln>
        </p:spPr>
        <p:txBody>
          <a:bodyPr wrap="square" lIns="177800" tIns="25400" rIns="1778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records of where we are with the client during Feb, Mar &amp; April on CID!</a:t>
            </a:r>
            <a:endParaRPr lang="en-US" sz="18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6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C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naire frame"/>
          <p:cNvSpPr/>
          <p:nvPr/>
        </p:nvSpPr>
        <p:spPr>
          <a:xfrm>
            <a:off x="448056" y="402336"/>
            <a:ext cx="6552044" cy="6053328"/>
          </a:xfrm>
          <a:prstGeom prst="rect">
            <a:avLst/>
          </a:prstGeom>
          <a:solidFill>
            <a:srgbClr val="FFFFFF"/>
          </a:solidFill>
          <a:ln w="9525">
            <a:solidFill>
              <a:srgbClr val="C5DB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pic>
        <p:nvPicPr>
          <p:cNvPr id="3" name="Questionnaire" descr="/tmp/claude-0/-home-user-Ppapp/b4da115c-35eb-5dad-8ee6-555569176c7b/scratchpad/build/img/q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6442316" cy="5943600"/>
          </a:xfrm>
          <a:prstGeom prst="rect">
            <a:avLst/>
          </a:prstGeom>
        </p:spPr>
      </p:pic>
      <p:sp>
        <p:nvSpPr>
          <p:cNvPr id="4" name="Travel &amp; Entertainment frame"/>
          <p:cNvSpPr/>
          <p:nvPr/>
        </p:nvSpPr>
        <p:spPr>
          <a:xfrm>
            <a:off x="7347572" y="402336"/>
            <a:ext cx="4396067" cy="142177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pic>
        <p:nvPicPr>
          <p:cNvPr id="5" name="Travel &amp; Entertainment" descr="/tmp/claude-0/-home-user-Ppapp/b4da115c-35eb-5dad-8ee6-555569176c7b/scratchpad/build/img/q_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436" y="457200"/>
            <a:ext cx="4286339" cy="1312044"/>
          </a:xfrm>
          <a:prstGeom prst="rect">
            <a:avLst/>
          </a:prstGeom>
        </p:spPr>
      </p:pic>
      <p:sp>
        <p:nvSpPr>
          <p:cNvPr id="6" name="Event deductibility 1 frame"/>
          <p:cNvSpPr/>
          <p:nvPr/>
        </p:nvSpPr>
        <p:spPr>
          <a:xfrm>
            <a:off x="7347572" y="2184506"/>
            <a:ext cx="4396067" cy="2117669"/>
          </a:xfrm>
          <a:prstGeom prst="rect">
            <a:avLst/>
          </a:prstGeom>
          <a:solidFill>
            <a:srgbClr val="FFFFFF"/>
          </a:solidFill>
          <a:ln w="9525">
            <a:solidFill>
              <a:srgbClr val="C5DB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pic>
        <p:nvPicPr>
          <p:cNvPr id="7" name="Event deductibility 1" descr="/tmp/claude-0/-home-user-Ppapp/b4da115c-35eb-5dad-8ee6-555569176c7b/scratchpad/build/img/q_ev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436" y="2239370"/>
            <a:ext cx="4286339" cy="2007941"/>
          </a:xfrm>
          <a:prstGeom prst="rect">
            <a:avLst/>
          </a:prstGeom>
        </p:spPr>
      </p:pic>
      <p:sp>
        <p:nvSpPr>
          <p:cNvPr id="8" name="Event deductibility 2 frame"/>
          <p:cNvSpPr/>
          <p:nvPr/>
        </p:nvSpPr>
        <p:spPr>
          <a:xfrm>
            <a:off x="7347572" y="4662574"/>
            <a:ext cx="4396067" cy="179309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pic>
        <p:nvPicPr>
          <p:cNvPr id="9" name="Event deductibility 2" descr="/tmp/claude-0/-home-user-Ppapp/b4da115c-35eb-5dad-8ee6-555569176c7b/scratchpad/build/img/q_ev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436" y="4717438"/>
            <a:ext cx="4286339" cy="168336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naire page 2 frame"/>
          <p:cNvSpPr/>
          <p:nvPr/>
        </p:nvSpPr>
        <p:spPr>
          <a:xfrm>
            <a:off x="3668661" y="402336"/>
            <a:ext cx="4854373" cy="6053328"/>
          </a:xfrm>
          <a:prstGeom prst="rect">
            <a:avLst/>
          </a:prstGeom>
          <a:solidFill>
            <a:srgbClr val="FFFFFF"/>
          </a:solidFill>
          <a:ln w="9525">
            <a:solidFill>
              <a:srgbClr val="C5DB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pic>
        <p:nvPicPr>
          <p:cNvPr id="3" name="Questionnaire page 2" descr="/tmp/claude-0/-home-user-Ppapp/b4da115c-35eb-5dad-8ee6-555569176c7b/scratchpad/build/img/q_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3525" y="457200"/>
            <a:ext cx="4744645" cy="5943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pplement page 1 frame"/>
          <p:cNvSpPr/>
          <p:nvPr/>
        </p:nvSpPr>
        <p:spPr>
          <a:xfrm>
            <a:off x="686464" y="402336"/>
            <a:ext cx="4920887" cy="6053328"/>
          </a:xfrm>
          <a:prstGeom prst="rect">
            <a:avLst/>
          </a:prstGeom>
          <a:solidFill>
            <a:srgbClr val="FFFFFF"/>
          </a:solidFill>
          <a:ln w="9525">
            <a:solidFill>
              <a:srgbClr val="C5DB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pic>
        <p:nvPicPr>
          <p:cNvPr id="3" name="Supplement page 1" descr="/tmp/claude-0/-home-user-Ppapp/b4da115c-35eb-5dad-8ee6-555569176c7b/scratchpad/build/img/supp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28" y="457200"/>
            <a:ext cx="4811159" cy="5943600"/>
          </a:xfrm>
          <a:prstGeom prst="rect">
            <a:avLst/>
          </a:prstGeom>
        </p:spPr>
      </p:pic>
      <p:sp>
        <p:nvSpPr>
          <p:cNvPr id="4" name="Supplement page 2 frame"/>
          <p:cNvSpPr/>
          <p:nvPr/>
        </p:nvSpPr>
        <p:spPr>
          <a:xfrm>
            <a:off x="6046263" y="402336"/>
            <a:ext cx="5458968" cy="5941833"/>
          </a:xfrm>
          <a:prstGeom prst="rect">
            <a:avLst/>
          </a:prstGeom>
          <a:solidFill>
            <a:srgbClr val="FFFFFF"/>
          </a:solidFill>
          <a:ln w="9525">
            <a:solidFill>
              <a:srgbClr val="C5DB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pic>
        <p:nvPicPr>
          <p:cNvPr id="5" name="Supplement page 2" descr="/tmp/claude-0/-home-user-Ppapp/b4da115c-35eb-5dad-8ee6-555569176c7b/scratchpad/build/img/supp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127" y="457200"/>
            <a:ext cx="5349240" cy="583210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4B9CD3">
              <a:alpha val="10000"/>
            </a:srgbClr>
          </a:solidFill>
          <a:ln/>
        </p:spPr>
      </p:sp>
      <p:sp>
        <p:nvSpPr>
          <p:cNvPr id="3" name="Decor 2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4B9CD3">
              <a:alpha val="8000"/>
            </a:srgbClr>
          </a:solidFill>
          <a:ln/>
        </p:spPr>
      </p:sp>
      <p:sp>
        <p:nvSpPr>
          <p:cNvPr id="4" name="Question mark 1"/>
          <p:cNvSpPr txBox="1"/>
          <p:nvPr/>
        </p:nvSpPr>
        <p:spPr>
          <a:xfrm rot="-600000">
            <a:off x="228600" y="9144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b="1" dirty="0">
                <a:solidFill>
                  <a:srgbClr val="15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0" dirty="0"/>
          </a:p>
        </p:txBody>
      </p:sp>
      <p:sp>
        <p:nvSpPr>
          <p:cNvPr id="5" name="Question mark 2"/>
          <p:cNvSpPr txBox="1"/>
          <p:nvPr/>
        </p:nvSpPr>
        <p:spPr>
          <a:xfrm rot="720000">
            <a:off x="4754880" y="32004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5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2000" dirty="0"/>
          </a:p>
        </p:txBody>
      </p:sp>
      <p:sp>
        <p:nvSpPr>
          <p:cNvPr id="6" name="Question mark 3"/>
          <p:cNvSpPr txBox="1"/>
          <p:nvPr/>
        </p:nvSpPr>
        <p:spPr>
          <a:xfrm rot="-480000">
            <a:off x="5029200" y="434340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15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0" dirty="0"/>
          </a:p>
        </p:txBody>
      </p:sp>
      <p:sp>
        <p:nvSpPr>
          <p:cNvPr id="7" name="Question mark 4"/>
          <p:cNvSpPr txBox="1"/>
          <p:nvPr/>
        </p:nvSpPr>
        <p:spPr>
          <a:xfrm rot="600000">
            <a:off x="457200" y="457200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5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2000" dirty="0"/>
          </a:p>
        </p:txBody>
      </p:sp>
      <p:sp>
        <p:nvSpPr>
          <p:cNvPr id="8" name="QA text"/>
          <p:cNvSpPr txBox="1"/>
          <p:nvPr/>
        </p:nvSpPr>
        <p:spPr>
          <a:xfrm>
            <a:off x="731520" y="173736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Questions/Concerns/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for Discussion???</a:t>
            </a:r>
            <a:endParaRPr lang="en-US" sz="4000" dirty="0"/>
          </a:p>
        </p:txBody>
      </p:sp>
      <p:sp>
        <p:nvSpPr>
          <p:cNvPr id="9" name="QA card"/>
          <p:cNvSpPr/>
          <p:nvPr/>
        </p:nvSpPr>
        <p:spPr>
          <a:xfrm>
            <a:off x="7223760" y="777240"/>
            <a:ext cx="4434840" cy="530352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pic>
        <p:nvPicPr>
          <p:cNvPr id="10" name="QA image" descr="/tmp/claude-0/-home-user-Ppapp/b4da115c-35eb-5dad-8ee6-555569176c7b/scratchpad/build/img/q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373140"/>
            <a:ext cx="4069080" cy="4111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 things to Double Check for 2026</a:t>
            </a:r>
            <a:endParaRPr lang="en-US" sz="3400" dirty="0"/>
          </a:p>
        </p:txBody>
      </p:sp>
      <p:sp>
        <p:nvSpPr>
          <p:cNvPr id="3" name="Check card 1"/>
          <p:cNvSpPr/>
          <p:nvPr/>
        </p:nvSpPr>
        <p:spPr>
          <a:xfrm>
            <a:off x="548640" y="1143000"/>
            <a:ext cx="5449824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36600" tIns="50800" rIns="152400" bIns="508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&amp; Entertainment &amp; Travel Expenses</a:t>
            </a:r>
            <a:endParaRPr lang="en-US" sz="19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entertainment expenses are non-deductible.</a:t>
            </a:r>
            <a:endParaRPr lang="en-US" sz="19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expenses – If questionable, flag it on Per 13 review checklist</a:t>
            </a:r>
            <a:endParaRPr lang="en-US" sz="1900" dirty="0"/>
          </a:p>
        </p:txBody>
      </p:sp>
      <p:sp>
        <p:nvSpPr>
          <p:cNvPr id="4" name="Check badge 1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Check card 2"/>
          <p:cNvSpPr/>
          <p:nvPr/>
        </p:nvSpPr>
        <p:spPr>
          <a:xfrm>
            <a:off x="6190488" y="1143000"/>
            <a:ext cx="5449824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36600" tIns="50800" rIns="152400" bIns="508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NCPTE –</a:t>
            </a:r>
            <a:endParaRPr lang="en-US" sz="19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 PY BS Item</a:t>
            </a:r>
            <a:endParaRPr lang="en-US" sz="19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 CY P&amp;L Item</a:t>
            </a:r>
            <a:endParaRPr lang="en-US" sz="1900" dirty="0"/>
          </a:p>
        </p:txBody>
      </p:sp>
      <p:sp>
        <p:nvSpPr>
          <p:cNvPr id="6" name="Check badge 2"/>
          <p:cNvSpPr/>
          <p:nvPr/>
        </p:nvSpPr>
        <p:spPr>
          <a:xfrm>
            <a:off x="6373368" y="1737360"/>
            <a:ext cx="457200" cy="4572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Check card 3"/>
          <p:cNvSpPr/>
          <p:nvPr/>
        </p:nvSpPr>
        <p:spPr>
          <a:xfrm>
            <a:off x="548640" y="2926080"/>
            <a:ext cx="5449824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36600" tIns="50800" rIns="152400" bIns="508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tied out- Interest booked</a:t>
            </a:r>
            <a:endParaRPr lang="en-US" sz="19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not responding doesn’t help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☹</a:t>
            </a:r>
            <a:endParaRPr lang="en-US" sz="1900" dirty="0"/>
          </a:p>
        </p:txBody>
      </p:sp>
      <p:sp>
        <p:nvSpPr>
          <p:cNvPr id="8" name="Check badge 3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Check card 4"/>
          <p:cNvSpPr/>
          <p:nvPr/>
        </p:nvSpPr>
        <p:spPr>
          <a:xfrm>
            <a:off x="6190488" y="2926080"/>
            <a:ext cx="5449824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36600" tIns="50800" rIns="152400" bIns="508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taxes</a:t>
            </a:r>
            <a:endParaRPr lang="en-US" sz="1900" dirty="0"/>
          </a:p>
        </p:txBody>
      </p:sp>
      <p:sp>
        <p:nvSpPr>
          <p:cNvPr id="10" name="Check badge 4"/>
          <p:cNvSpPr/>
          <p:nvPr/>
        </p:nvSpPr>
        <p:spPr>
          <a:xfrm>
            <a:off x="6373368" y="3246120"/>
            <a:ext cx="457200" cy="4572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Check card 5"/>
          <p:cNvSpPr/>
          <p:nvPr/>
        </p:nvSpPr>
        <p:spPr>
          <a:xfrm>
            <a:off x="548640" y="4160520"/>
            <a:ext cx="5449824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36600" tIns="50800" rIns="152400" bIns="508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Vehicles:</a:t>
            </a:r>
            <a:endParaRPr lang="en-US" sz="19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company books - did we ask for mileage?</a:t>
            </a:r>
            <a:endParaRPr lang="en-US" sz="1900" dirty="0"/>
          </a:p>
        </p:txBody>
      </p:sp>
      <p:sp>
        <p:nvSpPr>
          <p:cNvPr id="12" name="Check badge 5"/>
          <p:cNvSpPr/>
          <p:nvPr/>
        </p:nvSpPr>
        <p:spPr>
          <a:xfrm>
            <a:off x="731520" y="4480560"/>
            <a:ext cx="457200" cy="4572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Check card 6"/>
          <p:cNvSpPr/>
          <p:nvPr/>
        </p:nvSpPr>
        <p:spPr>
          <a:xfrm>
            <a:off x="6190488" y="4160520"/>
            <a:ext cx="5449824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36600" tIns="50800" rIns="152400" bIns="508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Gas/Auto repair expenses on books:</a:t>
            </a:r>
            <a:endParaRPr lang="en-US" sz="19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to make sure vehicles are on company books</a:t>
            </a:r>
            <a:endParaRPr lang="en-US" sz="1900" dirty="0"/>
          </a:p>
        </p:txBody>
      </p:sp>
      <p:sp>
        <p:nvSpPr>
          <p:cNvPr id="14" name="Check badge 6"/>
          <p:cNvSpPr/>
          <p:nvPr/>
        </p:nvSpPr>
        <p:spPr>
          <a:xfrm>
            <a:off x="6373368" y="4480560"/>
            <a:ext cx="457200" cy="4572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5" name="Check card 7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14737"/>
            </a:avLst>
          </a:prstGeom>
          <a:solidFill>
            <a:srgbClr val="0B2545"/>
          </a:solidFill>
          <a:ln w="6350">
            <a:solidFill>
              <a:srgbClr val="0B2545"/>
            </a:solidFill>
          </a:ln>
        </p:spPr>
        <p:txBody>
          <a:bodyPr wrap="square" lIns="736600" tIns="50800" rIns="1524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Tools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discuss Small tools in detail in next few slides</a:t>
            </a:r>
            <a:endParaRPr lang="en-US" sz="2100" dirty="0"/>
          </a:p>
        </p:txBody>
      </p:sp>
      <p:sp>
        <p:nvSpPr>
          <p:cNvPr id="16" name="Check badge 7"/>
          <p:cNvSpPr/>
          <p:nvPr/>
        </p:nvSpPr>
        <p:spPr>
          <a:xfrm>
            <a:off x="731520" y="5600700"/>
            <a:ext cx="457200" cy="457200"/>
          </a:xfrm>
          <a:prstGeom prst="ellipse">
            <a:avLst/>
          </a:prstGeom>
          <a:solidFill>
            <a:srgbClr val="F2B84B"/>
          </a:solidFill>
          <a:ln w="6350">
            <a:solidFill>
              <a:srgbClr val="F2B8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de minimis safe harbor election!</a:t>
            </a:r>
            <a:endParaRPr lang="en-US" sz="3400" dirty="0"/>
          </a:p>
        </p:txBody>
      </p:sp>
      <p:sp>
        <p:nvSpPr>
          <p:cNvPr id="3" name="Citation chip"/>
          <p:cNvSpPr/>
          <p:nvPr/>
        </p:nvSpPr>
        <p:spPr>
          <a:xfrm>
            <a:off x="548640" y="1097280"/>
            <a:ext cx="1920240" cy="365760"/>
          </a:xfrm>
          <a:prstGeom prst="roundRect">
            <a:avLst>
              <a:gd name="adj" fmla="val 42500"/>
            </a:avLst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1.263(a)-1(f)</a:t>
            </a:r>
            <a:endParaRPr lang="en-US" sz="1600" dirty="0"/>
          </a:p>
        </p:txBody>
      </p:sp>
      <p:sp>
        <p:nvSpPr>
          <p:cNvPr id="4" name="Definition"/>
          <p:cNvSpPr/>
          <p:nvPr/>
        </p:nvSpPr>
        <p:spPr>
          <a:xfrm>
            <a:off x="548640" y="1783080"/>
            <a:ext cx="11091672" cy="1143000"/>
          </a:xfrm>
          <a:prstGeom prst="roundRect">
            <a:avLst>
              <a:gd name="adj" fmla="val 11200"/>
            </a:avLst>
          </a:prstGeom>
          <a:solidFill>
            <a:srgbClr val="0B2545"/>
          </a:solidFill>
          <a:ln w="6350">
            <a:solidFill>
              <a:srgbClr val="0B2545"/>
            </a:solidFill>
          </a:ln>
        </p:spPr>
        <p:txBody>
          <a:bodyPr wrap="square" lIns="330200" tIns="50800" rIns="330200" bIns="5080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minimis – 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you to deduct smaller expenses that would otherwise need to be capitalized</a:t>
            </a:r>
            <a:endParaRPr lang="en-US" sz="2400" dirty="0"/>
          </a:p>
        </p:txBody>
      </p:sp>
      <p:sp>
        <p:nvSpPr>
          <p:cNvPr id="5" name="Condition 1"/>
          <p:cNvSpPr/>
          <p:nvPr/>
        </p:nvSpPr>
        <p:spPr>
          <a:xfrm>
            <a:off x="548640" y="3246120"/>
            <a:ext cx="516636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3ECF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6" name="Condition 1 badge"/>
          <p:cNvSpPr/>
          <p:nvPr/>
        </p:nvSpPr>
        <p:spPr>
          <a:xfrm>
            <a:off x="868680" y="3566160"/>
            <a:ext cx="640080" cy="64008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Condition 1 stat"/>
          <p:cNvSpPr txBox="1"/>
          <p:nvPr/>
        </p:nvSpPr>
        <p:spPr>
          <a:xfrm>
            <a:off x="173736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4B9C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$2,500</a:t>
            </a:r>
            <a:endParaRPr lang="en-US" sz="4000" dirty="0"/>
          </a:p>
        </p:txBody>
      </p:sp>
      <p:sp>
        <p:nvSpPr>
          <p:cNvPr id="8" name="Condition 1 text"/>
          <p:cNvSpPr txBox="1"/>
          <p:nvPr/>
        </p:nvSpPr>
        <p:spPr>
          <a:xfrm>
            <a:off x="868680" y="43891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does not exceed </a:t>
            </a:r>
            <a:r>
              <a:rPr lang="en-US" sz="2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r>
              <a:rPr lang="en-US" sz="2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($500 for amounts incurred prior to January 1, 2016) per invoice or per item</a:t>
            </a:r>
            <a:endParaRPr lang="en-US" sz="2200" dirty="0"/>
          </a:p>
        </p:txBody>
      </p:sp>
      <p:sp>
        <p:nvSpPr>
          <p:cNvPr id="9" name="Condition 2"/>
          <p:cNvSpPr/>
          <p:nvPr/>
        </p:nvSpPr>
        <p:spPr>
          <a:xfrm>
            <a:off x="6473952" y="3246120"/>
            <a:ext cx="516636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3ECF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0" name="Condition 2 badge"/>
          <p:cNvSpPr/>
          <p:nvPr/>
        </p:nvSpPr>
        <p:spPr>
          <a:xfrm>
            <a:off x="6793992" y="3566160"/>
            <a:ext cx="640080" cy="64008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Condition 2 stat"/>
          <p:cNvSpPr txBox="1"/>
          <p:nvPr/>
        </p:nvSpPr>
        <p:spPr>
          <a:xfrm>
            <a:off x="7662672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4B9C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months</a:t>
            </a:r>
            <a:endParaRPr lang="en-US" sz="4000" dirty="0"/>
          </a:p>
        </p:txBody>
      </p:sp>
      <p:sp>
        <p:nvSpPr>
          <p:cNvPr id="12" name="Condition 2 text"/>
          <p:cNvSpPr txBox="1"/>
          <p:nvPr/>
        </p:nvSpPr>
        <p:spPr>
          <a:xfrm>
            <a:off x="6793992" y="43891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useful life of the property does not exceed </a:t>
            </a:r>
            <a:r>
              <a:rPr lang="en-US" sz="2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r>
              <a:rPr lang="en-US" sz="2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Additional rules and exceptions apply. </a:t>
            </a:r>
            <a:endParaRPr lang="en-US" sz="2200" dirty="0"/>
          </a:p>
        </p:txBody>
      </p:sp>
      <p:sp>
        <p:nvSpPr>
          <p:cNvPr id="13" name="Or badge"/>
          <p:cNvSpPr/>
          <p:nvPr/>
        </p:nvSpPr>
        <p:spPr>
          <a:xfrm>
            <a:off x="5843016" y="4370832"/>
            <a:ext cx="502920" cy="502920"/>
          </a:xfrm>
          <a:prstGeom prst="ellipse">
            <a:avLst/>
          </a:prstGeom>
          <a:solidFill>
            <a:srgbClr val="F2B84B"/>
          </a:solidFill>
          <a:ln w="6350">
            <a:solidFill>
              <a:srgbClr val="F2B8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16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6" grpId="0" animBg="1"/>
      <p:bldP spid="7" grpId="0" animBg="1"/>
      <p:bldP spid="13" grpId="0" animBg="1"/>
      <p:bldP spid="9" grpId="0" animBg="1"/>
      <p:bldP spid="12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to de minimis safe harbor election</a:t>
            </a:r>
            <a:endParaRPr lang="en-US" sz="3400" dirty="0"/>
          </a:p>
        </p:txBody>
      </p:sp>
      <p:sp>
        <p:nvSpPr>
          <p:cNvPr id="3" name="Exception card 1"/>
          <p:cNvSpPr/>
          <p:nvPr/>
        </p:nvSpPr>
        <p:spPr>
          <a:xfrm>
            <a:off x="548640" y="1188720"/>
            <a:ext cx="2633472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203200" tIns="50800" rIns="203200" bIns="22860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2100" dirty="0"/>
          </a:p>
        </p:txBody>
      </p:sp>
      <p:sp>
        <p:nvSpPr>
          <p:cNvPr id="4" name="Exception circle 1"/>
          <p:cNvSpPr/>
          <p:nvPr/>
        </p:nvSpPr>
        <p:spPr>
          <a:xfrm>
            <a:off x="777240" y="1417320"/>
            <a:ext cx="685800" cy="6858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5" name="Exception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577340"/>
            <a:ext cx="365760" cy="365760"/>
          </a:xfrm>
          <a:prstGeom prst="rect">
            <a:avLst/>
          </a:prstGeom>
        </p:spPr>
      </p:pic>
      <p:pic>
        <p:nvPicPr>
          <p:cNvPr id="6" name="Exception ba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568196"/>
            <a:ext cx="384048" cy="384048"/>
          </a:xfrm>
          <a:prstGeom prst="rect">
            <a:avLst/>
          </a:prstGeom>
        </p:spPr>
      </p:pic>
      <p:sp>
        <p:nvSpPr>
          <p:cNvPr id="7" name="Exception card 2"/>
          <p:cNvSpPr/>
          <p:nvPr/>
        </p:nvSpPr>
        <p:spPr>
          <a:xfrm>
            <a:off x="3364992" y="1188720"/>
            <a:ext cx="2633472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203200" tIns="50800" rIns="203200" bIns="22860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Leasehold Improvements</a:t>
            </a:r>
            <a:endParaRPr lang="en-US" sz="2100" dirty="0"/>
          </a:p>
        </p:txBody>
      </p:sp>
      <p:sp>
        <p:nvSpPr>
          <p:cNvPr id="8" name="Exception circle 2"/>
          <p:cNvSpPr/>
          <p:nvPr/>
        </p:nvSpPr>
        <p:spPr>
          <a:xfrm>
            <a:off x="3593592" y="1417320"/>
            <a:ext cx="685800" cy="6858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9" name="Exception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612" y="1577340"/>
            <a:ext cx="365760" cy="365760"/>
          </a:xfrm>
          <a:prstGeom prst="rect">
            <a:avLst/>
          </a:prstGeom>
        </p:spPr>
      </p:pic>
      <p:pic>
        <p:nvPicPr>
          <p:cNvPr id="10" name="Exception ban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816" y="1568196"/>
            <a:ext cx="384048" cy="384048"/>
          </a:xfrm>
          <a:prstGeom prst="rect">
            <a:avLst/>
          </a:prstGeom>
        </p:spPr>
      </p:pic>
      <p:sp>
        <p:nvSpPr>
          <p:cNvPr id="11" name="Exception card 3"/>
          <p:cNvSpPr/>
          <p:nvPr/>
        </p:nvSpPr>
        <p:spPr>
          <a:xfrm>
            <a:off x="6181344" y="1188720"/>
            <a:ext cx="2633472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203200" tIns="50800" rIns="203200" bIns="22860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Assets</a:t>
            </a:r>
            <a:endParaRPr lang="en-US" sz="2100" dirty="0"/>
          </a:p>
        </p:txBody>
      </p:sp>
      <p:sp>
        <p:nvSpPr>
          <p:cNvPr id="12" name="Exception circle 3"/>
          <p:cNvSpPr/>
          <p:nvPr/>
        </p:nvSpPr>
        <p:spPr>
          <a:xfrm>
            <a:off x="6409944" y="1417320"/>
            <a:ext cx="685800" cy="6858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13" name="Exception icon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964" y="1577340"/>
            <a:ext cx="365760" cy="365760"/>
          </a:xfrm>
          <a:prstGeom prst="rect">
            <a:avLst/>
          </a:prstGeom>
        </p:spPr>
      </p:pic>
      <p:pic>
        <p:nvPicPr>
          <p:cNvPr id="14" name="Exception ban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1568196"/>
            <a:ext cx="384048" cy="384048"/>
          </a:xfrm>
          <a:prstGeom prst="rect">
            <a:avLst/>
          </a:prstGeom>
        </p:spPr>
      </p:pic>
      <p:sp>
        <p:nvSpPr>
          <p:cNvPr id="15" name="Exception card 4"/>
          <p:cNvSpPr/>
          <p:nvPr/>
        </p:nvSpPr>
        <p:spPr>
          <a:xfrm>
            <a:off x="8997696" y="1188720"/>
            <a:ext cx="2633472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203200" tIns="50800" rIns="203200" bIns="22860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2100" dirty="0"/>
          </a:p>
        </p:txBody>
      </p:sp>
      <p:sp>
        <p:nvSpPr>
          <p:cNvPr id="16" name="Exception circle 4"/>
          <p:cNvSpPr/>
          <p:nvPr/>
        </p:nvSpPr>
        <p:spPr>
          <a:xfrm>
            <a:off x="9226296" y="1417320"/>
            <a:ext cx="685800" cy="6858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17" name="Exception icon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6316" y="1577340"/>
            <a:ext cx="365760" cy="365760"/>
          </a:xfrm>
          <a:prstGeom prst="rect">
            <a:avLst/>
          </a:prstGeom>
        </p:spPr>
      </p:pic>
      <p:pic>
        <p:nvPicPr>
          <p:cNvPr id="18" name="Exception ban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8520" y="1568196"/>
            <a:ext cx="384048" cy="384048"/>
          </a:xfrm>
          <a:prstGeom prst="rect">
            <a:avLst/>
          </a:prstGeom>
        </p:spPr>
      </p:pic>
      <p:sp>
        <p:nvSpPr>
          <p:cNvPr id="19" name="Exception card 5"/>
          <p:cNvSpPr/>
          <p:nvPr/>
        </p:nvSpPr>
        <p:spPr>
          <a:xfrm>
            <a:off x="548640" y="3794760"/>
            <a:ext cx="2633472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203200" tIns="50800" rIns="203200" bIns="22860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2100" dirty="0"/>
          </a:p>
        </p:txBody>
      </p:sp>
      <p:sp>
        <p:nvSpPr>
          <p:cNvPr id="20" name="Exception circle 5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21" name="Exception icon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" y="4183380"/>
            <a:ext cx="365760" cy="365760"/>
          </a:xfrm>
          <a:prstGeom prst="rect">
            <a:avLst/>
          </a:prstGeom>
        </p:spPr>
      </p:pic>
      <p:pic>
        <p:nvPicPr>
          <p:cNvPr id="22" name="Exception ban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9464" y="4174236"/>
            <a:ext cx="384048" cy="384048"/>
          </a:xfrm>
          <a:prstGeom prst="rect">
            <a:avLst/>
          </a:prstGeom>
        </p:spPr>
      </p:pic>
      <p:sp>
        <p:nvSpPr>
          <p:cNvPr id="23" name="Exception card 6"/>
          <p:cNvSpPr/>
          <p:nvPr/>
        </p:nvSpPr>
        <p:spPr>
          <a:xfrm>
            <a:off x="3364992" y="3794760"/>
            <a:ext cx="2633472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203200" tIns="50800" rIns="203200" bIns="22860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Inventory/Parts purchased for resale (held for customers)</a:t>
            </a:r>
            <a:endParaRPr lang="en-US" sz="1600" dirty="0"/>
          </a:p>
        </p:txBody>
      </p:sp>
      <p:sp>
        <p:nvSpPr>
          <p:cNvPr id="24" name="Exception circle 6"/>
          <p:cNvSpPr/>
          <p:nvPr/>
        </p:nvSpPr>
        <p:spPr>
          <a:xfrm>
            <a:off x="3593592" y="4023360"/>
            <a:ext cx="685800" cy="6858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25" name="Exception icon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3612" y="4183380"/>
            <a:ext cx="365760" cy="365760"/>
          </a:xfrm>
          <a:prstGeom prst="rect">
            <a:avLst/>
          </a:prstGeom>
        </p:spPr>
      </p:pic>
      <p:pic>
        <p:nvPicPr>
          <p:cNvPr id="26" name="Exception ban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5816" y="4174236"/>
            <a:ext cx="384048" cy="384048"/>
          </a:xfrm>
          <a:prstGeom prst="rect">
            <a:avLst/>
          </a:prstGeom>
        </p:spPr>
      </p:pic>
      <p:sp>
        <p:nvSpPr>
          <p:cNvPr id="27" name="Exception card 7"/>
          <p:cNvSpPr/>
          <p:nvPr/>
        </p:nvSpPr>
        <p:spPr>
          <a:xfrm>
            <a:off x="6181344" y="3794760"/>
            <a:ext cx="2633472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203200" tIns="50800" rIns="203200" bIns="22860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100" dirty="0"/>
          </a:p>
        </p:txBody>
      </p:sp>
      <p:sp>
        <p:nvSpPr>
          <p:cNvPr id="28" name="Exception circle 7"/>
          <p:cNvSpPr/>
          <p:nvPr/>
        </p:nvSpPr>
        <p:spPr>
          <a:xfrm>
            <a:off x="6409944" y="4023360"/>
            <a:ext cx="685800" cy="6858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29" name="Exception icon 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9964" y="4183380"/>
            <a:ext cx="365760" cy="365760"/>
          </a:xfrm>
          <a:prstGeom prst="rect">
            <a:avLst/>
          </a:prstGeom>
        </p:spPr>
      </p:pic>
      <p:pic>
        <p:nvPicPr>
          <p:cNvPr id="30" name="Exception ban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02168" y="4174236"/>
            <a:ext cx="384048" cy="384048"/>
          </a:xfrm>
          <a:prstGeom prst="rect">
            <a:avLst/>
          </a:prstGeom>
        </p:spPr>
      </p:pic>
      <p:sp>
        <p:nvSpPr>
          <p:cNvPr id="31" name="Exception card 8"/>
          <p:cNvSpPr/>
          <p:nvPr/>
        </p:nvSpPr>
        <p:spPr>
          <a:xfrm>
            <a:off x="8997696" y="3794760"/>
            <a:ext cx="2633472" cy="2423160"/>
          </a:xfrm>
          <a:prstGeom prst="roundRect">
            <a:avLst>
              <a:gd name="adj" fmla="val 5283"/>
            </a:avLst>
          </a:prstGeom>
          <a:solidFill>
            <a:srgbClr val="0B2545"/>
          </a:solidFill>
          <a:ln w="9525">
            <a:solidFill>
              <a:srgbClr val="0B254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203200" tIns="50800" rIns="203200" bIns="22860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property that doesn't qualify under the de minimis safe harbor</a:t>
            </a:r>
            <a:endParaRPr lang="en-US" sz="1600" dirty="0"/>
          </a:p>
        </p:txBody>
      </p:sp>
      <p:sp>
        <p:nvSpPr>
          <p:cNvPr id="32" name="Exception circle 8"/>
          <p:cNvSpPr/>
          <p:nvPr/>
        </p:nvSpPr>
        <p:spPr>
          <a:xfrm>
            <a:off x="9226296" y="4023360"/>
            <a:ext cx="685800" cy="685800"/>
          </a:xfrm>
          <a:prstGeom prst="ellipse">
            <a:avLst/>
          </a:prstGeom>
          <a:solidFill>
            <a:srgbClr val="F2B84B"/>
          </a:solidFill>
          <a:ln w="6350">
            <a:solidFill>
              <a:srgbClr val="F2B84B"/>
            </a:solidFill>
            <a:prstDash val="solid"/>
          </a:ln>
        </p:spPr>
      </p:sp>
      <p:pic>
        <p:nvPicPr>
          <p:cNvPr id="33" name="Exception icon 8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86316" y="4183380"/>
            <a:ext cx="365760" cy="365760"/>
          </a:xfrm>
          <a:prstGeom prst="rect">
            <a:avLst/>
          </a:prstGeom>
        </p:spPr>
      </p:pic>
      <p:pic>
        <p:nvPicPr>
          <p:cNvPr id="34" name="Exception ban 8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18520" y="4174236"/>
            <a:ext cx="384048" cy="384048"/>
          </a:xfrm>
          <a:prstGeom prst="rect">
            <a:avLst/>
          </a:prstGeom>
        </p:spPr>
      </p:pic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7" grpId="0" animBg="1"/>
      <p:bldP spid="28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ample card 1"/>
          <p:cNvSpPr/>
          <p:nvPr/>
        </p:nvSpPr>
        <p:spPr>
          <a:xfrm>
            <a:off x="548640" y="502920"/>
            <a:ext cx="3593592" cy="580644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254000" tIns="1295400" rIns="254000" bIns="1270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4B9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</a:t>
            </a:r>
            <a:endParaRPr lang="en-US" sz="2000" dirty="0"/>
          </a:p>
          <a:p>
            <a:pPr indent="0" marL="0">
              <a:buNone/>
            </a:pPr>
            <a:r>
              <a:rPr lang="en-US" sz="1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buys two computers for her business at $2,000 each for a total cost of $4,000, as shown on the invoice. By using the de minimis safe harbor, she can deduct the entire $4,000 expense in a single year, provided the requirements to use the safe harbor are satisfied.</a:t>
            </a:r>
            <a:endParaRPr lang="en-US" sz="2000" dirty="0"/>
          </a:p>
        </p:txBody>
      </p:sp>
      <p:sp>
        <p:nvSpPr>
          <p:cNvPr id="3" name="Example circle 1"/>
          <p:cNvSpPr/>
          <p:nvPr/>
        </p:nvSpPr>
        <p:spPr>
          <a:xfrm>
            <a:off x="777240" y="731520"/>
            <a:ext cx="914400" cy="9144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4" name="Exampl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60120"/>
            <a:ext cx="457200" cy="457200"/>
          </a:xfrm>
          <a:prstGeom prst="rect">
            <a:avLst/>
          </a:prstGeom>
        </p:spPr>
      </p:pic>
      <p:sp>
        <p:nvSpPr>
          <p:cNvPr id="5" name="Verdict 1"/>
          <p:cNvSpPr/>
          <p:nvPr/>
        </p:nvSpPr>
        <p:spPr>
          <a:xfrm>
            <a:off x="822960" y="5577840"/>
            <a:ext cx="3044952" cy="475488"/>
          </a:xfrm>
          <a:prstGeom prst="roundRect">
            <a:avLst>
              <a:gd name="adj" fmla="val 42308"/>
            </a:avLst>
          </a:prstGeom>
          <a:solidFill>
            <a:srgbClr val="2A9D8F"/>
          </a:solidFill>
          <a:ln w="6350">
            <a:solidFill>
              <a:srgbClr val="2A9D8F"/>
            </a:solidFill>
          </a:ln>
        </p:spPr>
        <p:txBody>
          <a:bodyPr wrap="square" lIns="50800" tIns="0" rIns="508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$4,000</a:t>
            </a:r>
            <a:endParaRPr lang="en-US" sz="1800" dirty="0"/>
          </a:p>
        </p:txBody>
      </p:sp>
      <p:pic>
        <p:nvPicPr>
          <p:cNvPr id="6" name="Verdict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678424"/>
            <a:ext cx="274320" cy="274320"/>
          </a:xfrm>
          <a:prstGeom prst="rect">
            <a:avLst/>
          </a:prstGeom>
        </p:spPr>
      </p:pic>
      <p:sp>
        <p:nvSpPr>
          <p:cNvPr id="7" name="Example card 2"/>
          <p:cNvSpPr/>
          <p:nvPr/>
        </p:nvSpPr>
        <p:spPr>
          <a:xfrm>
            <a:off x="4297680" y="502920"/>
            <a:ext cx="3593592" cy="580644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254000" tIns="1295400" rIns="254000" bIns="1270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4B9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</a:t>
            </a:r>
            <a:endParaRPr lang="en-US" sz="2000" dirty="0"/>
          </a:p>
          <a:p>
            <a:pPr indent="0" marL="0">
              <a:buNone/>
            </a:pPr>
            <a:r>
              <a:rPr lang="en-US" sz="1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Shelby buys a $2,000 camera and uses it 50% of the time for her photography business and 50% of the time for personal purposes. She can deduct $1,000 of the cost using the de minimis safe harbor. But she couldn't deduct the camera using the safe harbor election if it cost more than $2,500</a:t>
            </a:r>
            <a:endParaRPr lang="en-US" sz="2000" dirty="0"/>
          </a:p>
        </p:txBody>
      </p:sp>
      <p:sp>
        <p:nvSpPr>
          <p:cNvPr id="8" name="Example circle 2"/>
          <p:cNvSpPr/>
          <p:nvPr/>
        </p:nvSpPr>
        <p:spPr>
          <a:xfrm>
            <a:off x="4526280" y="731520"/>
            <a:ext cx="914400" cy="914400"/>
          </a:xfrm>
          <a:prstGeom prst="ellipse">
            <a:avLst/>
          </a:prstGeom>
          <a:solidFill>
            <a:srgbClr val="4B9CD3"/>
          </a:solidFill>
          <a:ln w="6350">
            <a:solidFill>
              <a:srgbClr val="4B9CD3"/>
            </a:solidFill>
            <a:prstDash val="solid"/>
          </a:ln>
        </p:spPr>
      </p:sp>
      <p:pic>
        <p:nvPicPr>
          <p:cNvPr id="9" name="Example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60120"/>
            <a:ext cx="457200" cy="457200"/>
          </a:xfrm>
          <a:prstGeom prst="rect">
            <a:avLst/>
          </a:prstGeom>
        </p:spPr>
      </p:pic>
      <p:sp>
        <p:nvSpPr>
          <p:cNvPr id="10" name="Verdict 2"/>
          <p:cNvSpPr/>
          <p:nvPr/>
        </p:nvSpPr>
        <p:spPr>
          <a:xfrm>
            <a:off x="4572000" y="5577840"/>
            <a:ext cx="3044952" cy="475488"/>
          </a:xfrm>
          <a:prstGeom prst="roundRect">
            <a:avLst>
              <a:gd name="adj" fmla="val 42308"/>
            </a:avLst>
          </a:prstGeom>
          <a:solidFill>
            <a:srgbClr val="2A9D8F"/>
          </a:solidFill>
          <a:ln w="6350">
            <a:solidFill>
              <a:srgbClr val="2A9D8F"/>
            </a:solidFill>
          </a:ln>
        </p:spPr>
        <p:txBody>
          <a:bodyPr wrap="square" lIns="50800" tIns="0" rIns="508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$1,000</a:t>
            </a:r>
            <a:endParaRPr lang="en-US" sz="1800" dirty="0"/>
          </a:p>
        </p:txBody>
      </p:sp>
      <p:pic>
        <p:nvPicPr>
          <p:cNvPr id="11" name="Verdict icon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5678424"/>
            <a:ext cx="274320" cy="274320"/>
          </a:xfrm>
          <a:prstGeom prst="rect">
            <a:avLst/>
          </a:prstGeom>
        </p:spPr>
      </p:pic>
      <p:sp>
        <p:nvSpPr>
          <p:cNvPr id="12" name="Example card 3"/>
          <p:cNvSpPr/>
          <p:nvPr/>
        </p:nvSpPr>
        <p:spPr>
          <a:xfrm>
            <a:off x="8046720" y="502920"/>
            <a:ext cx="3593592" cy="580644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254000" tIns="1295400" rIns="254000" bIns="1270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4B9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</a:t>
            </a:r>
            <a:endParaRPr lang="en-US" sz="2000" dirty="0"/>
          </a:p>
          <a:p>
            <a:pPr indent="0" marL="0">
              <a:buNone/>
            </a:pPr>
            <a:r>
              <a:rPr lang="en-US" sz="1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buys a desk for her office for $3,000. She tells the store to separately bill her $250 for each of the four desk drawers and $2,000 for the rest of the desk. Because a desk usually includes drawers as part of a single unit, the IRS adds the cost of each component to determine that the actual cost is $3,000. So, the desk doesn't qualify for the de minimis safe harbor.</a:t>
            </a:r>
            <a:endParaRPr lang="en-US" sz="2000" dirty="0"/>
          </a:p>
        </p:txBody>
      </p:sp>
      <p:sp>
        <p:nvSpPr>
          <p:cNvPr id="13" name="Example circle 3"/>
          <p:cNvSpPr/>
          <p:nvPr/>
        </p:nvSpPr>
        <p:spPr>
          <a:xfrm>
            <a:off x="8275320" y="731520"/>
            <a:ext cx="914400" cy="914400"/>
          </a:xfrm>
          <a:prstGeom prst="ellipse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pic>
        <p:nvPicPr>
          <p:cNvPr id="14" name="Example icon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960120"/>
            <a:ext cx="457200" cy="457200"/>
          </a:xfrm>
          <a:prstGeom prst="rect">
            <a:avLst/>
          </a:prstGeom>
        </p:spPr>
      </p:pic>
      <p:sp>
        <p:nvSpPr>
          <p:cNvPr id="15" name="Verdict 3"/>
          <p:cNvSpPr/>
          <p:nvPr/>
        </p:nvSpPr>
        <p:spPr>
          <a:xfrm>
            <a:off x="8321040" y="5577840"/>
            <a:ext cx="3044952" cy="475488"/>
          </a:xfrm>
          <a:prstGeom prst="roundRect">
            <a:avLst>
              <a:gd name="adj" fmla="val 42308"/>
            </a:avLst>
          </a:prstGeom>
          <a:solidFill>
            <a:srgbClr val="D1495B"/>
          </a:solidFill>
          <a:ln w="6350">
            <a:solidFill>
              <a:srgbClr val="D1495B"/>
            </a:solidFill>
          </a:ln>
        </p:spPr>
        <p:txBody>
          <a:bodyPr wrap="square" lIns="50800" tIns="0" rIns="508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qualify</a:t>
            </a:r>
            <a:endParaRPr lang="en-US" sz="1800" dirty="0"/>
          </a:p>
        </p:txBody>
      </p:sp>
      <p:pic>
        <p:nvPicPr>
          <p:cNvPr id="16" name="Verdict icon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5678424"/>
            <a:ext cx="274320" cy="274320"/>
          </a:xfrm>
          <a:prstGeom prst="rect">
            <a:avLst/>
          </a:prstGeom>
        </p:spPr>
      </p:pic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</a:t>
            </a:r>
            <a:endParaRPr lang="en-US" sz="3400" dirty="0"/>
          </a:p>
        </p:txBody>
      </p:sp>
      <p:sp>
        <p:nvSpPr>
          <p:cNvPr id="3" name="Prompt chip"/>
          <p:cNvSpPr/>
          <p:nvPr/>
        </p:nvSpPr>
        <p:spPr>
          <a:xfrm>
            <a:off x="2926080" y="457200"/>
            <a:ext cx="3383280" cy="40233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6350">
            <a:solidFill>
              <a:srgbClr val="F2B8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out before you click!</a:t>
            </a:r>
            <a:endParaRPr lang="en-US" sz="1600" dirty="0"/>
          </a:p>
        </p:txBody>
      </p:sp>
      <p:sp>
        <p:nvSpPr>
          <p:cNvPr id="4" name="Answer row 1"/>
          <p:cNvSpPr/>
          <p:nvPr/>
        </p:nvSpPr>
        <p:spPr>
          <a:xfrm>
            <a:off x="548640" y="118872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62000" tIns="25400" rIns="3931920" bIns="254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repair and maintenance on the manufacturing facility:</a:t>
            </a:r>
            <a:endParaRPr lang="en-US" sz="1500" dirty="0"/>
          </a:p>
        </p:txBody>
      </p:sp>
      <p:sp>
        <p:nvSpPr>
          <p:cNvPr id="5" name="Answer badge 1"/>
          <p:cNvSpPr/>
          <p:nvPr/>
        </p:nvSpPr>
        <p:spPr>
          <a:xfrm>
            <a:off x="676656" y="1289304"/>
            <a:ext cx="365760" cy="365760"/>
          </a:xfrm>
          <a:prstGeom prst="ellipse">
            <a:avLst/>
          </a:prstGeom>
          <a:solidFill>
            <a:srgbClr val="DCEAF6"/>
          </a:solidFill>
          <a:ln w="6350">
            <a:solidFill>
              <a:srgbClr val="DCEA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Answer chip 1"/>
          <p:cNvSpPr/>
          <p:nvPr/>
        </p:nvSpPr>
        <p:spPr>
          <a:xfrm>
            <a:off x="7891272" y="1261872"/>
            <a:ext cx="3657600" cy="420624"/>
          </a:xfrm>
          <a:prstGeom prst="roundRect">
            <a:avLst>
              <a:gd name="adj" fmla="val 21739"/>
            </a:avLst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50800" tIns="0" rIns="508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Expensed</a:t>
            </a:r>
            <a:endParaRPr lang="en-US" sz="1600" dirty="0"/>
          </a:p>
        </p:txBody>
      </p:sp>
      <p:sp>
        <p:nvSpPr>
          <p:cNvPr id="7" name="Answer row 2"/>
          <p:cNvSpPr/>
          <p:nvPr/>
        </p:nvSpPr>
        <p:spPr>
          <a:xfrm>
            <a:off x="548640" y="182880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62000" tIns="25400" rIns="3931920" bIns="254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taxes on new equipment used in business operations:</a:t>
            </a:r>
            <a:endParaRPr lang="en-US" sz="1500" dirty="0"/>
          </a:p>
        </p:txBody>
      </p:sp>
      <p:sp>
        <p:nvSpPr>
          <p:cNvPr id="8" name="Answer badge 2"/>
          <p:cNvSpPr/>
          <p:nvPr/>
        </p:nvSpPr>
        <p:spPr>
          <a:xfrm>
            <a:off x="676656" y="1929384"/>
            <a:ext cx="365760" cy="365760"/>
          </a:xfrm>
          <a:prstGeom prst="ellipse">
            <a:avLst/>
          </a:prstGeom>
          <a:solidFill>
            <a:srgbClr val="DCEAF6"/>
          </a:solidFill>
          <a:ln w="6350">
            <a:solidFill>
              <a:srgbClr val="DCEA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Answer chip 2"/>
          <p:cNvSpPr/>
          <p:nvPr/>
        </p:nvSpPr>
        <p:spPr>
          <a:xfrm>
            <a:off x="7891272" y="1901952"/>
            <a:ext cx="3657600" cy="420624"/>
          </a:xfrm>
          <a:prstGeom prst="roundRect">
            <a:avLst>
              <a:gd name="adj" fmla="val 21739"/>
            </a:avLst>
          </a:prstGeom>
          <a:solidFill>
            <a:srgbClr val="13315C"/>
          </a:solidFill>
          <a:ln w="6350">
            <a:solidFill>
              <a:srgbClr val="13315C"/>
            </a:solidFill>
          </a:ln>
        </p:spPr>
        <p:txBody>
          <a:bodyPr wrap="square" lIns="50800" tIns="0" rIns="508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Capitalized</a:t>
            </a:r>
            <a:endParaRPr lang="en-US" sz="1600" dirty="0"/>
          </a:p>
        </p:txBody>
      </p:sp>
      <p:sp>
        <p:nvSpPr>
          <p:cNvPr id="10" name="Answer row 3"/>
          <p:cNvSpPr/>
          <p:nvPr/>
        </p:nvSpPr>
        <p:spPr>
          <a:xfrm>
            <a:off x="548640" y="246888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62000" tIns="25400" rIns="3931920" bIns="254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costs on new equipment used in business operations:</a:t>
            </a:r>
            <a:endParaRPr lang="en-US" sz="1500" dirty="0"/>
          </a:p>
        </p:txBody>
      </p:sp>
      <p:sp>
        <p:nvSpPr>
          <p:cNvPr id="11" name="Answer badge 3"/>
          <p:cNvSpPr/>
          <p:nvPr/>
        </p:nvSpPr>
        <p:spPr>
          <a:xfrm>
            <a:off x="676656" y="2569464"/>
            <a:ext cx="365760" cy="365760"/>
          </a:xfrm>
          <a:prstGeom prst="ellipse">
            <a:avLst/>
          </a:prstGeom>
          <a:solidFill>
            <a:srgbClr val="DCEAF6"/>
          </a:solidFill>
          <a:ln w="6350">
            <a:solidFill>
              <a:srgbClr val="DCEA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Answer chip 3"/>
          <p:cNvSpPr/>
          <p:nvPr/>
        </p:nvSpPr>
        <p:spPr>
          <a:xfrm>
            <a:off x="7891272" y="2542032"/>
            <a:ext cx="3657600" cy="420624"/>
          </a:xfrm>
          <a:prstGeom prst="roundRect">
            <a:avLst>
              <a:gd name="adj" fmla="val 21739"/>
            </a:avLst>
          </a:prstGeom>
          <a:solidFill>
            <a:srgbClr val="13315C"/>
          </a:solidFill>
          <a:ln w="6350">
            <a:solidFill>
              <a:srgbClr val="13315C"/>
            </a:solidFill>
          </a:ln>
        </p:spPr>
        <p:txBody>
          <a:bodyPr wrap="square" lIns="50800" tIns="0" rIns="508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Capitalized</a:t>
            </a:r>
            <a:endParaRPr lang="en-US" sz="1600" dirty="0"/>
          </a:p>
        </p:txBody>
      </p:sp>
      <p:sp>
        <p:nvSpPr>
          <p:cNvPr id="13" name="Answer row 4"/>
          <p:cNvSpPr/>
          <p:nvPr/>
        </p:nvSpPr>
        <p:spPr>
          <a:xfrm>
            <a:off x="548640" y="310896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62000" tIns="25400" rIns="3931920" bIns="254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 minor repair on existing equipment used in business operations:</a:t>
            </a:r>
            <a:endParaRPr lang="en-US" sz="1500" dirty="0"/>
          </a:p>
        </p:txBody>
      </p:sp>
      <p:sp>
        <p:nvSpPr>
          <p:cNvPr id="14" name="Answer badge 4"/>
          <p:cNvSpPr/>
          <p:nvPr/>
        </p:nvSpPr>
        <p:spPr>
          <a:xfrm>
            <a:off x="676656" y="3209544"/>
            <a:ext cx="365760" cy="365760"/>
          </a:xfrm>
          <a:prstGeom prst="ellipse">
            <a:avLst/>
          </a:prstGeom>
          <a:solidFill>
            <a:srgbClr val="DCEAF6"/>
          </a:solidFill>
          <a:ln w="6350">
            <a:solidFill>
              <a:srgbClr val="DCEA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Answer chip 4"/>
          <p:cNvSpPr/>
          <p:nvPr/>
        </p:nvSpPr>
        <p:spPr>
          <a:xfrm>
            <a:off x="7891272" y="3182112"/>
            <a:ext cx="3657600" cy="420624"/>
          </a:xfrm>
          <a:prstGeom prst="roundRect">
            <a:avLst>
              <a:gd name="adj" fmla="val 21739"/>
            </a:avLst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50800" tIns="0" rIns="508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Expensed</a:t>
            </a:r>
            <a:endParaRPr lang="en-US" sz="1600" dirty="0"/>
          </a:p>
        </p:txBody>
      </p:sp>
      <p:sp>
        <p:nvSpPr>
          <p:cNvPr id="16" name="Answer row 5"/>
          <p:cNvSpPr/>
          <p:nvPr/>
        </p:nvSpPr>
        <p:spPr>
          <a:xfrm>
            <a:off x="548640" y="374904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62000" tIns="25400" rIns="3931920" bIns="254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next to the production facility held for use next year as a place to build a warehouse:</a:t>
            </a:r>
            <a:endParaRPr lang="en-US" sz="1500" dirty="0"/>
          </a:p>
        </p:txBody>
      </p:sp>
      <p:sp>
        <p:nvSpPr>
          <p:cNvPr id="17" name="Answer badge 5"/>
          <p:cNvSpPr/>
          <p:nvPr/>
        </p:nvSpPr>
        <p:spPr>
          <a:xfrm>
            <a:off x="676656" y="3849624"/>
            <a:ext cx="365760" cy="365760"/>
          </a:xfrm>
          <a:prstGeom prst="ellipse">
            <a:avLst/>
          </a:prstGeom>
          <a:solidFill>
            <a:srgbClr val="DCEAF6"/>
          </a:solidFill>
          <a:ln w="6350">
            <a:solidFill>
              <a:srgbClr val="DCEA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Answer chip 5"/>
          <p:cNvSpPr/>
          <p:nvPr/>
        </p:nvSpPr>
        <p:spPr>
          <a:xfrm>
            <a:off x="7891272" y="3822192"/>
            <a:ext cx="3657600" cy="420624"/>
          </a:xfrm>
          <a:prstGeom prst="roundRect">
            <a:avLst>
              <a:gd name="adj" fmla="val 21739"/>
            </a:avLst>
          </a:prstGeom>
          <a:solidFill>
            <a:srgbClr val="2A9D8F"/>
          </a:solidFill>
          <a:ln w="6350">
            <a:solidFill>
              <a:srgbClr val="2A9D8F"/>
            </a:solidFill>
          </a:ln>
        </p:spPr>
        <p:txBody>
          <a:bodyPr wrap="square" lIns="50800" tIns="0" rIns="508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Asset-Property, plant, and equipment</a:t>
            </a:r>
            <a:endParaRPr lang="en-US" sz="1400" dirty="0"/>
          </a:p>
        </p:txBody>
      </p:sp>
      <p:sp>
        <p:nvSpPr>
          <p:cNvPr id="19" name="Answer row 6"/>
          <p:cNvSpPr/>
          <p:nvPr/>
        </p:nvSpPr>
        <p:spPr>
          <a:xfrm>
            <a:off x="548640" y="438912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62000" tIns="25400" rIns="3931920" bIns="254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held for future resale when the value increases:</a:t>
            </a:r>
            <a:endParaRPr lang="en-US" sz="1500" dirty="0"/>
          </a:p>
        </p:txBody>
      </p:sp>
      <p:sp>
        <p:nvSpPr>
          <p:cNvPr id="20" name="Answer badge 6"/>
          <p:cNvSpPr/>
          <p:nvPr/>
        </p:nvSpPr>
        <p:spPr>
          <a:xfrm>
            <a:off x="676656" y="4489704"/>
            <a:ext cx="365760" cy="365760"/>
          </a:xfrm>
          <a:prstGeom prst="ellipse">
            <a:avLst/>
          </a:prstGeom>
          <a:solidFill>
            <a:srgbClr val="DCEAF6"/>
          </a:solidFill>
          <a:ln w="6350">
            <a:solidFill>
              <a:srgbClr val="DCEA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Answer chip 6"/>
          <p:cNvSpPr/>
          <p:nvPr/>
        </p:nvSpPr>
        <p:spPr>
          <a:xfrm>
            <a:off x="7891272" y="4462272"/>
            <a:ext cx="3657600" cy="420624"/>
          </a:xfrm>
          <a:prstGeom prst="roundRect">
            <a:avLst>
              <a:gd name="adj" fmla="val 21739"/>
            </a:avLst>
          </a:prstGeom>
          <a:solidFill>
            <a:srgbClr val="F2B84B"/>
          </a:solidFill>
          <a:ln w="6350">
            <a:solidFill>
              <a:srgbClr val="F2B84B"/>
            </a:solidFill>
          </a:ln>
        </p:spPr>
        <p:txBody>
          <a:bodyPr wrap="square" lIns="50800" tIns="0" rIns="508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600" dirty="0"/>
          </a:p>
        </p:txBody>
      </p:sp>
      <p:sp>
        <p:nvSpPr>
          <p:cNvPr id="22" name="Answer row 7"/>
          <p:cNvSpPr/>
          <p:nvPr/>
        </p:nvSpPr>
        <p:spPr>
          <a:xfrm>
            <a:off x="548640" y="502920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62000" tIns="25400" rIns="3931920" bIns="254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used in the production process:</a:t>
            </a:r>
            <a:endParaRPr lang="en-US" sz="1500" dirty="0"/>
          </a:p>
        </p:txBody>
      </p:sp>
      <p:sp>
        <p:nvSpPr>
          <p:cNvPr id="23" name="Answer badge 7"/>
          <p:cNvSpPr/>
          <p:nvPr/>
        </p:nvSpPr>
        <p:spPr>
          <a:xfrm>
            <a:off x="676656" y="5129784"/>
            <a:ext cx="365760" cy="365760"/>
          </a:xfrm>
          <a:prstGeom prst="ellipse">
            <a:avLst/>
          </a:prstGeom>
          <a:solidFill>
            <a:srgbClr val="DCEAF6"/>
          </a:solidFill>
          <a:ln w="6350">
            <a:solidFill>
              <a:srgbClr val="DCEA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Answer chip 7"/>
          <p:cNvSpPr/>
          <p:nvPr/>
        </p:nvSpPr>
        <p:spPr>
          <a:xfrm>
            <a:off x="7891272" y="5102352"/>
            <a:ext cx="3657600" cy="420624"/>
          </a:xfrm>
          <a:prstGeom prst="roundRect">
            <a:avLst>
              <a:gd name="adj" fmla="val 21739"/>
            </a:avLst>
          </a:prstGeom>
          <a:solidFill>
            <a:srgbClr val="2A9D8F"/>
          </a:solidFill>
          <a:ln w="6350">
            <a:solidFill>
              <a:srgbClr val="2A9D8F"/>
            </a:solidFill>
          </a:ln>
        </p:spPr>
        <p:txBody>
          <a:bodyPr wrap="square" lIns="50800" tIns="0" rIns="508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Asset-Property, plant, and equipment</a:t>
            </a:r>
            <a:endParaRPr lang="en-US" sz="1400" dirty="0"/>
          </a:p>
        </p:txBody>
      </p:sp>
      <p:sp>
        <p:nvSpPr>
          <p:cNvPr id="25" name="Answer row 8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3ECF5"/>
            </a:solidFill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  <p:txBody>
          <a:bodyPr wrap="square" lIns="762000" tIns="25400" rIns="3931920" bIns="254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for $2,000 and a printer for $2,400 and they are both on the same invoice:</a:t>
            </a:r>
            <a:endParaRPr lang="en-US" sz="1500" dirty="0"/>
          </a:p>
        </p:txBody>
      </p:sp>
      <p:sp>
        <p:nvSpPr>
          <p:cNvPr id="26" name="Answer badge 8"/>
          <p:cNvSpPr/>
          <p:nvPr/>
        </p:nvSpPr>
        <p:spPr>
          <a:xfrm>
            <a:off x="676656" y="5769864"/>
            <a:ext cx="365760" cy="365760"/>
          </a:xfrm>
          <a:prstGeom prst="ellipse">
            <a:avLst/>
          </a:prstGeom>
          <a:solidFill>
            <a:srgbClr val="DCEAF6"/>
          </a:solidFill>
          <a:ln w="6350">
            <a:solidFill>
              <a:srgbClr val="DCEA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Answer chip 8"/>
          <p:cNvSpPr/>
          <p:nvPr/>
        </p:nvSpPr>
        <p:spPr>
          <a:xfrm>
            <a:off x="7891272" y="5742432"/>
            <a:ext cx="3657600" cy="420624"/>
          </a:xfrm>
          <a:prstGeom prst="roundRect">
            <a:avLst>
              <a:gd name="adj" fmla="val 21739"/>
            </a:avLst>
          </a:prstGeom>
          <a:solidFill>
            <a:srgbClr val="4B9CD3"/>
          </a:solidFill>
          <a:ln w="6350">
            <a:solidFill>
              <a:srgbClr val="4B9CD3"/>
            </a:solidFill>
          </a:ln>
        </p:spPr>
        <p:txBody>
          <a:bodyPr wrap="square" lIns="50800" tIns="0" rIns="508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Expensed</a:t>
            </a:r>
            <a:endParaRPr lang="en-US" sz="16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  <p:bldP spid="18" grpId="0" animBg="1"/>
      <p:bldP spid="21" grpId="0" animBg="1"/>
      <p:bldP spid="24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C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r 13 checklist page 1 frame"/>
          <p:cNvSpPr/>
          <p:nvPr/>
        </p:nvSpPr>
        <p:spPr>
          <a:xfrm>
            <a:off x="748620" y="402336"/>
            <a:ext cx="4950460" cy="6053328"/>
          </a:xfrm>
          <a:prstGeom prst="rect">
            <a:avLst/>
          </a:prstGeom>
          <a:solidFill>
            <a:srgbClr val="FFFFFF"/>
          </a:solidFill>
          <a:ln w="9525">
            <a:solidFill>
              <a:srgbClr val="C5DB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pic>
        <p:nvPicPr>
          <p:cNvPr id="3" name="Per 13 checklist page 1" descr="/tmp/claude-0/-home-user-Ppapp/b4da115c-35eb-5dad-8ee6-555569176c7b/scratchpad/build/img/per1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484" y="457200"/>
            <a:ext cx="4840732" cy="5943600"/>
          </a:xfrm>
          <a:prstGeom prst="rect">
            <a:avLst/>
          </a:prstGeom>
        </p:spPr>
      </p:pic>
      <p:sp>
        <p:nvSpPr>
          <p:cNvPr id="4" name="Per 13 checklist page 2 frame"/>
          <p:cNvSpPr/>
          <p:nvPr/>
        </p:nvSpPr>
        <p:spPr>
          <a:xfrm>
            <a:off x="6137992" y="402336"/>
            <a:ext cx="5305084" cy="6053328"/>
          </a:xfrm>
          <a:prstGeom prst="rect">
            <a:avLst/>
          </a:prstGeom>
          <a:solidFill>
            <a:srgbClr val="FFFFFF"/>
          </a:solidFill>
          <a:ln w="9525">
            <a:solidFill>
              <a:srgbClr val="C5DB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pic>
        <p:nvPicPr>
          <p:cNvPr id="5" name="Per 13 checklist page 2" descr="/tmp/claude-0/-home-user-Ppapp/b4da115c-35eb-5dad-8ee6-555569176c7b/scratchpad/build/img/per1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856" y="457200"/>
            <a:ext cx="5195356" cy="5943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4B9CD3">
              <a:alpha val="10000"/>
            </a:srgbClr>
          </a:solidFill>
          <a:ln/>
        </p:spPr>
      </p:sp>
      <p:sp>
        <p:nvSpPr>
          <p:cNvPr id="3" name="Decor 2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4B9CD3">
              <a:alpha val="8000"/>
            </a:srgbClr>
          </a:solidFill>
          <a:ln/>
        </p:spPr>
      </p:sp>
      <p:sp>
        <p:nvSpPr>
          <p:cNvPr id="4" name="Photo ring"/>
          <p:cNvSpPr/>
          <p:nvPr/>
        </p:nvSpPr>
        <p:spPr>
          <a:xfrm>
            <a:off x="685800" y="868680"/>
            <a:ext cx="5394960" cy="5394960"/>
          </a:xfrm>
          <a:prstGeom prst="ellipse">
            <a:avLst/>
          </a:prstGeom>
          <a:solidFill>
            <a:srgbClr val="4B9CD3">
              <a:alpha val="30000"/>
            </a:srgbClr>
          </a:solidFill>
          <a:ln/>
        </p:spPr>
      </p:sp>
      <p:pic>
        <p:nvPicPr>
          <p:cNvPr id="5" name="Thanks photo" descr="/tmp/claude-0/-home-user-Ppapp/b4da115c-35eb-5dad-8ee6-555569176c7b/scratchpad/build/img/tha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5120640" cy="5120640"/>
          </a:xfrm>
          <a:prstGeom prst="ellipse">
            <a:avLst/>
          </a:prstGeom>
        </p:spPr>
      </p:pic>
      <p:sp>
        <p:nvSpPr>
          <p:cNvPr id="6" name="Confetti 1"/>
          <p:cNvSpPr/>
          <p:nvPr/>
        </p:nvSpPr>
        <p:spPr>
          <a:xfrm rot="1200000">
            <a:off x="6492240" y="1051560"/>
            <a:ext cx="201168" cy="20116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7" name="Confetti 2"/>
          <p:cNvSpPr/>
          <p:nvPr/>
        </p:nvSpPr>
        <p:spPr>
          <a:xfrm>
            <a:off x="7955280" y="640080"/>
            <a:ext cx="146304" cy="146304"/>
          </a:xfrm>
          <a:prstGeom prst="ellipse">
            <a:avLst/>
          </a:prstGeom>
          <a:solidFill>
            <a:srgbClr val="4B9CD3"/>
          </a:solidFill>
          <a:ln/>
        </p:spPr>
      </p:sp>
      <p:sp>
        <p:nvSpPr>
          <p:cNvPr id="8" name="Confetti 3"/>
          <p:cNvSpPr/>
          <p:nvPr/>
        </p:nvSpPr>
        <p:spPr>
          <a:xfrm rot="2100000">
            <a:off x="9418320" y="1325880"/>
            <a:ext cx="237744" cy="1069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Confetti 4"/>
          <p:cNvSpPr/>
          <p:nvPr/>
        </p:nvSpPr>
        <p:spPr>
          <a:xfrm>
            <a:off x="10972800" y="777240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Confetti 5"/>
          <p:cNvSpPr/>
          <p:nvPr/>
        </p:nvSpPr>
        <p:spPr>
          <a:xfrm>
            <a:off x="11475720" y="2011680"/>
            <a:ext cx="137160" cy="1371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1" name="Confetti 6"/>
          <p:cNvSpPr/>
          <p:nvPr/>
        </p:nvSpPr>
        <p:spPr>
          <a:xfrm rot="-1500000">
            <a:off x="6720840" y="1874520"/>
            <a:ext cx="164592" cy="74066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12" name="Confetti 7"/>
          <p:cNvSpPr/>
          <p:nvPr/>
        </p:nvSpPr>
        <p:spPr>
          <a:xfrm rot="3000000">
            <a:off x="10607040" y="1783080"/>
            <a:ext cx="155448" cy="69952"/>
          </a:xfrm>
          <a:prstGeom prst="rect">
            <a:avLst/>
          </a:prstGeom>
          <a:solidFill>
            <a:srgbClr val="4B9CD3"/>
          </a:solidFill>
          <a:ln/>
        </p:spPr>
      </p:sp>
      <p:sp>
        <p:nvSpPr>
          <p:cNvPr id="13" name="Confetti 8"/>
          <p:cNvSpPr/>
          <p:nvPr/>
        </p:nvSpPr>
        <p:spPr>
          <a:xfrm rot="900000">
            <a:off x="11338560" y="4114800"/>
            <a:ext cx="219456" cy="98755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Confetti 9"/>
          <p:cNvSpPr/>
          <p:nvPr/>
        </p:nvSpPr>
        <p:spPr>
          <a:xfrm>
            <a:off x="10058400" y="5074920"/>
            <a:ext cx="182880" cy="18288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Confetti 10"/>
          <p:cNvSpPr/>
          <p:nvPr/>
        </p:nvSpPr>
        <p:spPr>
          <a:xfrm rot="-1800000">
            <a:off x="8412480" y="5760720"/>
            <a:ext cx="237744" cy="106985"/>
          </a:xfrm>
          <a:prstGeom prst="rect">
            <a:avLst/>
          </a:prstGeom>
          <a:solidFill>
            <a:srgbClr val="4B9CD3"/>
          </a:solidFill>
          <a:ln/>
        </p:spPr>
      </p:sp>
      <p:sp>
        <p:nvSpPr>
          <p:cNvPr id="16" name="Confetti 11"/>
          <p:cNvSpPr/>
          <p:nvPr/>
        </p:nvSpPr>
        <p:spPr>
          <a:xfrm>
            <a:off x="6858000" y="52578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Confetti 12"/>
          <p:cNvSpPr/>
          <p:nvPr/>
        </p:nvSpPr>
        <p:spPr>
          <a:xfrm>
            <a:off x="11521440" y="5852160"/>
            <a:ext cx="164592" cy="164592"/>
          </a:xfrm>
          <a:prstGeom prst="ellipse">
            <a:avLst/>
          </a:prstGeom>
          <a:solidFill>
            <a:srgbClr val="D1495B"/>
          </a:solidFill>
          <a:ln/>
        </p:spPr>
      </p:sp>
      <p:sp>
        <p:nvSpPr>
          <p:cNvPr id="18" name="Confetti 13"/>
          <p:cNvSpPr/>
          <p:nvPr/>
        </p:nvSpPr>
        <p:spPr>
          <a:xfrm>
            <a:off x="9326880" y="4617720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Confetti 14"/>
          <p:cNvSpPr/>
          <p:nvPr/>
        </p:nvSpPr>
        <p:spPr>
          <a:xfrm rot="2400000">
            <a:off x="7680960" y="6172200"/>
            <a:ext cx="182880" cy="82296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20" name="Confetti 15"/>
          <p:cNvSpPr/>
          <p:nvPr/>
        </p:nvSpPr>
        <p:spPr>
          <a:xfrm rot="-900000">
            <a:off x="10972800" y="5394960"/>
            <a:ext cx="137160" cy="617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Happy filing"/>
          <p:cNvSpPr txBox="1"/>
          <p:nvPr/>
        </p:nvSpPr>
        <p:spPr>
          <a:xfrm>
            <a:off x="6400800" y="4069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filing!</a:t>
            </a:r>
            <a:endParaRPr lang="en-US" sz="2600" dirty="0"/>
          </a:p>
        </p:txBody>
      </p:sp>
      <p:sp>
        <p:nvSpPr>
          <p:cNvPr id="22" name="Thanks text"/>
          <p:cNvSpPr txBox="1"/>
          <p:nvPr/>
        </p:nvSpPr>
        <p:spPr>
          <a:xfrm>
            <a:off x="6400800" y="237744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2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Carolina Accounting &amp; Tax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Tax Organizer</dc:title>
  <dc:subject>PptxGenJS Presentation</dc:subject>
  <dc:creator>Bijal Khatiwala</dc:creator>
  <cp:lastModifiedBy>Bijal Khatiwala</cp:lastModifiedBy>
  <cp:revision>1</cp:revision>
  <dcterms:created xsi:type="dcterms:W3CDTF">2026-09-30T19:42:03Z</dcterms:created>
  <dcterms:modified xsi:type="dcterms:W3CDTF">2026-09-30T19:42:03Z</dcterms:modified>
</cp:coreProperties>
</file>