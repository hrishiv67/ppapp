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photo" descr="/tmp/claude-0/-home-user-Ppapp/b4da115c-35eb-5dad-8ee6-555569176c7b/scratchpad/v2/prep/title_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0"/>
            <a:ext cx="5105095" cy="6858000"/>
          </a:xfrm>
          <a:prstGeom prst="rect">
            <a:avLst/>
          </a:prstGeom>
        </p:spPr>
      </p:pic>
      <p:sp>
        <p:nvSpPr>
          <p:cNvPr id="3" name="Photo tint"/>
          <p:cNvSpPr/>
          <p:nvPr/>
        </p:nvSpPr>
        <p:spPr>
          <a:xfrm>
            <a:off x="7086600" y="0"/>
            <a:ext cx="5105095" cy="6858000"/>
          </a:xfrm>
          <a:prstGeom prst="rect">
            <a:avLst/>
          </a:prstGeom>
          <a:solidFill>
            <a:srgbClr val="0B2545">
              <a:alpha val="38000"/>
            </a:srgbClr>
          </a:solidFill>
          <a:ln/>
        </p:spPr>
      </p:sp>
      <p:sp>
        <p:nvSpPr>
          <p:cNvPr id="4" name="Eyebrow"/>
          <p:cNvSpPr txBox="1"/>
          <p:nvPr/>
        </p:nvSpPr>
        <p:spPr>
          <a:xfrm>
            <a:off x="731520" y="777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Offsite Training</a:t>
            </a:r>
            <a:endParaRPr lang="en-US" sz="1600" dirty="0"/>
          </a:p>
        </p:txBody>
      </p:sp>
      <p:sp>
        <p:nvSpPr>
          <p:cNvPr id="5" name="Title"/>
          <p:cNvSpPr txBox="1"/>
          <p:nvPr/>
        </p:nvSpPr>
        <p:spPr>
          <a:xfrm>
            <a:off x="731520" y="160020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Tax Organizer</a:t>
            </a:r>
            <a:endParaRPr lang="en-US" sz="5400" dirty="0"/>
          </a:p>
        </p:txBody>
      </p:sp>
      <p:sp>
        <p:nvSpPr>
          <p:cNvPr id="6" name="Subtitle"/>
          <p:cNvSpPr txBox="1"/>
          <p:nvPr/>
        </p:nvSpPr>
        <p:spPr>
          <a:xfrm>
            <a:off x="731520" y="342900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F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13 Financials, Review Checklist &amp; Business Questionnaire</a:t>
            </a:r>
            <a:endParaRPr lang="en-US" sz="2400" dirty="0"/>
          </a:p>
        </p:txBody>
      </p:sp>
      <p:sp>
        <p:nvSpPr>
          <p:cNvPr id="7" name="Tagline"/>
          <p:cNvSpPr txBox="1"/>
          <p:nvPr/>
        </p:nvSpPr>
        <p:spPr>
          <a:xfrm>
            <a:off x="731520" y="4434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Organized clients make for quieter tax seasons.</a:t>
            </a:r>
            <a:endParaRPr lang="en-US" sz="1800" dirty="0"/>
          </a:p>
        </p:txBody>
      </p:sp>
      <p:sp>
        <p:nvSpPr>
          <p:cNvPr id="8" name="Presenter"/>
          <p:cNvSpPr txBox="1"/>
          <p:nvPr/>
        </p:nvSpPr>
        <p:spPr>
          <a:xfrm>
            <a:off x="731520" y="5257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Bijal Khatiwala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CF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2, 2026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Tax Organizer – Bijal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315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4000" dirty="0"/>
          </a:p>
        </p:txBody>
      </p:sp>
      <p:sp>
        <p:nvSpPr>
          <p:cNvPr id="4" name="Agenda card 1"/>
          <p:cNvSpPr/>
          <p:nvPr/>
        </p:nvSpPr>
        <p:spPr>
          <a:xfrm>
            <a:off x="548640" y="201168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5" name="Agenda num 1"/>
          <p:cNvSpPr txBox="1"/>
          <p:nvPr/>
        </p:nvSpPr>
        <p:spPr>
          <a:xfrm>
            <a:off x="822960" y="22677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Agenda circle 1"/>
          <p:cNvSpPr/>
          <p:nvPr/>
        </p:nvSpPr>
        <p:spPr>
          <a:xfrm>
            <a:off x="2103120" y="2286000"/>
            <a:ext cx="777240" cy="77724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7" name="Agenda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9716" y="2482596"/>
            <a:ext cx="384048" cy="384048"/>
          </a:xfrm>
          <a:prstGeom prst="rect">
            <a:avLst/>
          </a:prstGeom>
        </p:spPr>
      </p:pic>
      <p:sp>
        <p:nvSpPr>
          <p:cNvPr id="8" name="Agenda text 1"/>
          <p:cNvSpPr txBox="1"/>
          <p:nvPr/>
        </p:nvSpPr>
        <p:spPr>
          <a:xfrm>
            <a:off x="822960" y="34747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Purpose and Use of Biz Tax Organizer</a:t>
            </a:r>
            <a:endParaRPr lang="en-US" sz="2000" dirty="0"/>
          </a:p>
        </p:txBody>
      </p:sp>
      <p:sp>
        <p:nvSpPr>
          <p:cNvPr id="9" name="Agenda card 2"/>
          <p:cNvSpPr/>
          <p:nvPr/>
        </p:nvSpPr>
        <p:spPr>
          <a:xfrm>
            <a:off x="3376879" y="201168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10" name="Agenda num 2"/>
          <p:cNvSpPr txBox="1"/>
          <p:nvPr/>
        </p:nvSpPr>
        <p:spPr>
          <a:xfrm>
            <a:off x="3651199" y="22677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Agenda circle 2"/>
          <p:cNvSpPr/>
          <p:nvPr/>
        </p:nvSpPr>
        <p:spPr>
          <a:xfrm>
            <a:off x="4931359" y="2286000"/>
            <a:ext cx="777240" cy="77724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2" name="Agenda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955" y="2482596"/>
            <a:ext cx="384048" cy="384048"/>
          </a:xfrm>
          <a:prstGeom prst="rect">
            <a:avLst/>
          </a:prstGeom>
        </p:spPr>
      </p:pic>
      <p:sp>
        <p:nvSpPr>
          <p:cNvPr id="13" name="Agenda text 2"/>
          <p:cNvSpPr txBox="1"/>
          <p:nvPr/>
        </p:nvSpPr>
        <p:spPr>
          <a:xfrm>
            <a:off x="3651199" y="34747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Biz Tax Information from Client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 Organizer Letter &amp; Customization, Attachments</a:t>
            </a:r>
            <a:endParaRPr lang="en-US" sz="2000" dirty="0"/>
          </a:p>
        </p:txBody>
      </p:sp>
      <p:sp>
        <p:nvSpPr>
          <p:cNvPr id="14" name="Agenda card 3"/>
          <p:cNvSpPr/>
          <p:nvPr/>
        </p:nvSpPr>
        <p:spPr>
          <a:xfrm>
            <a:off x="6205118" y="201168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15" name="Agenda num 3"/>
          <p:cNvSpPr txBox="1"/>
          <p:nvPr/>
        </p:nvSpPr>
        <p:spPr>
          <a:xfrm>
            <a:off x="6479438" y="22677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Agenda circle 3"/>
          <p:cNvSpPr/>
          <p:nvPr/>
        </p:nvSpPr>
        <p:spPr>
          <a:xfrm>
            <a:off x="7759598" y="2286000"/>
            <a:ext cx="777240" cy="77724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7" name="Agenda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194" y="2482596"/>
            <a:ext cx="384048" cy="384048"/>
          </a:xfrm>
          <a:prstGeom prst="rect">
            <a:avLst/>
          </a:prstGeom>
        </p:spPr>
      </p:pic>
      <p:sp>
        <p:nvSpPr>
          <p:cNvPr id="18" name="Agenda text 3"/>
          <p:cNvSpPr txBox="1"/>
          <p:nvPr/>
        </p:nvSpPr>
        <p:spPr>
          <a:xfrm>
            <a:off x="6479438" y="34747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 Considerations – Capitalize vs. Expense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Sample Questions</a:t>
            </a:r>
            <a:endParaRPr lang="en-US" sz="2000" dirty="0"/>
          </a:p>
        </p:txBody>
      </p:sp>
      <p:sp>
        <p:nvSpPr>
          <p:cNvPr id="19" name="Agenda card 4"/>
          <p:cNvSpPr/>
          <p:nvPr/>
        </p:nvSpPr>
        <p:spPr>
          <a:xfrm>
            <a:off x="9033358" y="201168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20" name="Agenda num 4"/>
          <p:cNvSpPr txBox="1"/>
          <p:nvPr/>
        </p:nvSpPr>
        <p:spPr>
          <a:xfrm>
            <a:off x="9307678" y="22677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1" name="Agenda circle 4"/>
          <p:cNvSpPr/>
          <p:nvPr/>
        </p:nvSpPr>
        <p:spPr>
          <a:xfrm>
            <a:off x="10587838" y="2286000"/>
            <a:ext cx="777240" cy="777240"/>
          </a:xfrm>
          <a:prstGeom prst="ellipse">
            <a:avLst/>
          </a:prstGeom>
          <a:solidFill>
            <a:srgbClr val="0B2545"/>
          </a:solidFill>
          <a:ln w="6350">
            <a:solidFill>
              <a:srgbClr val="0B2545"/>
            </a:solidFill>
            <a:prstDash val="solid"/>
          </a:ln>
        </p:spPr>
      </p:sp>
      <p:pic>
        <p:nvPicPr>
          <p:cNvPr id="22" name="Agenda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4434" y="2482596"/>
            <a:ext cx="384048" cy="384048"/>
          </a:xfrm>
          <a:prstGeom prst="rect">
            <a:avLst/>
          </a:prstGeom>
        </p:spPr>
      </p:pic>
      <p:sp>
        <p:nvSpPr>
          <p:cNvPr id="23" name="Agenda text 4"/>
          <p:cNvSpPr txBox="1"/>
          <p:nvPr/>
        </p:nvSpPr>
        <p:spPr>
          <a:xfrm>
            <a:off x="9307678" y="3474720"/>
            <a:ext cx="2057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13 Checklist – Overview</a:t>
            </a:r>
            <a:endParaRPr lang="en-US" sz="2000" dirty="0"/>
          </a:p>
        </p:txBody>
      </p:sp>
      <p:sp>
        <p:nvSpPr>
          <p:cNvPr id="24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of Documents Required for Tax return:</a:t>
            </a:r>
            <a:endParaRPr lang="en-US" sz="3000" dirty="0"/>
          </a:p>
        </p:txBody>
      </p:sp>
      <p:sp>
        <p:nvSpPr>
          <p:cNvPr id="3" name="Doc row 1"/>
          <p:cNvSpPr/>
          <p:nvPr/>
        </p:nvSpPr>
        <p:spPr>
          <a:xfrm>
            <a:off x="548640" y="1188720"/>
            <a:ext cx="681228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Completed Business Tax Questionnaire</a:t>
            </a:r>
            <a:endParaRPr lang="en-US" sz="1700" dirty="0"/>
          </a:p>
        </p:txBody>
      </p:sp>
      <p:sp>
        <p:nvSpPr>
          <p:cNvPr id="4" name="Doc badge 1"/>
          <p:cNvSpPr/>
          <p:nvPr/>
        </p:nvSpPr>
        <p:spPr>
          <a:xfrm>
            <a:off x="685800" y="1252728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Doc row 2"/>
          <p:cNvSpPr/>
          <p:nvPr/>
        </p:nvSpPr>
        <p:spPr>
          <a:xfrm>
            <a:off x="548640" y="1819656"/>
            <a:ext cx="681228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Per 13 Review checklist for 2026</a:t>
            </a:r>
            <a:endParaRPr lang="en-US" sz="1700" dirty="0"/>
          </a:p>
        </p:txBody>
      </p:sp>
      <p:sp>
        <p:nvSpPr>
          <p:cNvPr id="6" name="Doc badge 2"/>
          <p:cNvSpPr/>
          <p:nvPr/>
        </p:nvSpPr>
        <p:spPr>
          <a:xfrm>
            <a:off x="685800" y="1883664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Doc row 3"/>
          <p:cNvSpPr/>
          <p:nvPr/>
        </p:nvSpPr>
        <p:spPr>
          <a:xfrm>
            <a:off x="548640" y="2450592"/>
            <a:ext cx="681228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year’s Financials tied out with 2026 Balance sheet</a:t>
            </a:r>
            <a:endParaRPr lang="en-US" sz="1700" dirty="0"/>
          </a:p>
        </p:txBody>
      </p:sp>
      <p:sp>
        <p:nvSpPr>
          <p:cNvPr id="8" name="Doc badge 3"/>
          <p:cNvSpPr/>
          <p:nvPr/>
        </p:nvSpPr>
        <p:spPr>
          <a:xfrm>
            <a:off x="685800" y="2514600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Doc row 4"/>
          <p:cNvSpPr/>
          <p:nvPr/>
        </p:nvSpPr>
        <p:spPr>
          <a:xfrm>
            <a:off x="548640" y="3081528"/>
            <a:ext cx="681228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Reports (either filed by us or client)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tax extensions are filed, Annual Reports are still due by April 15, 2027</a:t>
            </a:r>
            <a:endParaRPr lang="en-US" sz="1700" dirty="0"/>
          </a:p>
        </p:txBody>
      </p:sp>
      <p:sp>
        <p:nvSpPr>
          <p:cNvPr id="10" name="Doc badge 4"/>
          <p:cNvSpPr/>
          <p:nvPr/>
        </p:nvSpPr>
        <p:spPr>
          <a:xfrm>
            <a:off x="685800" y="3374136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Doc row 5"/>
          <p:cNvSpPr/>
          <p:nvPr/>
        </p:nvSpPr>
        <p:spPr>
          <a:xfrm>
            <a:off x="548640" y="4169664"/>
            <a:ext cx="681228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1099’s issued &amp; W-2’s issued</a:t>
            </a:r>
            <a:endParaRPr lang="en-US" sz="1700" dirty="0"/>
          </a:p>
        </p:txBody>
      </p:sp>
      <p:sp>
        <p:nvSpPr>
          <p:cNvPr id="12" name="Doc badge 5"/>
          <p:cNvSpPr/>
          <p:nvPr/>
        </p:nvSpPr>
        <p:spPr>
          <a:xfrm>
            <a:off x="685800" y="4233672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Doc row 6"/>
          <p:cNvSpPr/>
          <p:nvPr/>
        </p:nvSpPr>
        <p:spPr>
          <a:xfrm>
            <a:off x="548640" y="4800600"/>
            <a:ext cx="68122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Financials – Complete &amp; Final (Meaning no suspense A/C items &amp; Loans tied out)</a:t>
            </a:r>
            <a:endParaRPr lang="en-US" sz="1700" dirty="0"/>
          </a:p>
        </p:txBody>
      </p:sp>
      <p:sp>
        <p:nvSpPr>
          <p:cNvPr id="14" name="Doc badge 6"/>
          <p:cNvSpPr/>
          <p:nvPr/>
        </p:nvSpPr>
        <p:spPr>
          <a:xfrm>
            <a:off x="685800" y="5020056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15" name="Doc row 7"/>
          <p:cNvSpPr/>
          <p:nvPr/>
        </p:nvSpPr>
        <p:spPr>
          <a:xfrm>
            <a:off x="7589520" y="1188720"/>
            <a:ext cx="4050792" cy="4453128"/>
          </a:xfrm>
          <a:prstGeom prst="roundRect">
            <a:avLst>
              <a:gd name="adj" fmla="val 2709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pic>
        <p:nvPicPr>
          <p:cNvPr id="16" name="Documents illustration" descr="/tmp/claude-0/-home-user-Ppapp/b4da115c-35eb-5dad-8ee6-555569176c7b/scratchpad/v2/pics/docs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325880"/>
            <a:ext cx="3776472" cy="1321765"/>
          </a:xfrm>
          <a:prstGeom prst="rect">
            <a:avLst/>
          </a:prstGeom>
        </p:spPr>
      </p:pic>
      <p:sp>
        <p:nvSpPr>
          <p:cNvPr id="17" name="Doc badge 7"/>
          <p:cNvSpPr/>
          <p:nvPr/>
        </p:nvSpPr>
        <p:spPr>
          <a:xfrm>
            <a:off x="7772400" y="2812237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18" name="Doc 7 title"/>
          <p:cNvSpPr txBox="1"/>
          <p:nvPr/>
        </p:nvSpPr>
        <p:spPr>
          <a:xfrm>
            <a:off x="8302752" y="2784805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documents</a:t>
            </a:r>
            <a:endParaRPr lang="en-US" sz="1800" dirty="0"/>
          </a:p>
        </p:txBody>
      </p:sp>
      <p:sp>
        <p:nvSpPr>
          <p:cNvPr id="19" name="Doc 7 list"/>
          <p:cNvSpPr txBox="1"/>
          <p:nvPr/>
        </p:nvSpPr>
        <p:spPr>
          <a:xfrm>
            <a:off x="7818120" y="3333445"/>
            <a:ext cx="3593592" cy="221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statements with ending balance as of Dec 31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2026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Supplemental information completed – If accrual based or Home Office deduction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 DGL, Asset Purchase docs, Asset Disposal Information.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pocket expenses emails/spreadsheet if any.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information, if any.</a:t>
            </a:r>
            <a:endParaRPr lang="en-US" sz="1400" dirty="0"/>
          </a:p>
        </p:txBody>
      </p:sp>
      <p:sp>
        <p:nvSpPr>
          <p:cNvPr id="20" name="Doc callout"/>
          <p:cNvSpPr/>
          <p:nvPr/>
        </p:nvSpPr>
        <p:spPr>
          <a:xfrm>
            <a:off x="548640" y="5779008"/>
            <a:ext cx="11091672" cy="502920"/>
          </a:xfrm>
          <a:prstGeom prst="roundRect">
            <a:avLst>
              <a:gd name="adj" fmla="val 21818"/>
            </a:avLst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177800" tIns="25400" rIns="1778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records of where we are with the client during Feb, Mar &amp; April on CID!</a:t>
            </a:r>
            <a:endParaRPr lang="en-US" sz="17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17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E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naire frame"/>
          <p:cNvSpPr/>
          <p:nvPr/>
        </p:nvSpPr>
        <p:spPr>
          <a:xfrm>
            <a:off x="1136118" y="411480"/>
            <a:ext cx="5027419" cy="6035040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3" name="Questionnaire" descr="/tmp/claude-0/-home-user-Ppapp/b4da115c-35eb-5dad-8ee6-555569176c7b/scratchpad/v2/prep/q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838" y="457200"/>
            <a:ext cx="4935979" cy="5943600"/>
          </a:xfrm>
          <a:prstGeom prst="rect">
            <a:avLst/>
          </a:prstGeom>
        </p:spPr>
      </p:pic>
      <p:sp>
        <p:nvSpPr>
          <p:cNvPr id="4" name="What's staying the same frame"/>
          <p:cNvSpPr/>
          <p:nvPr/>
        </p:nvSpPr>
        <p:spPr>
          <a:xfrm>
            <a:off x="6529297" y="411480"/>
            <a:ext cx="4526280" cy="2503921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5" name="What's staying the same" descr="/tmp/claude-0/-home-user-Ppapp/b4da115c-35eb-5dad-8ee6-555569176c7b/scratchpad/v2/prep/q_sa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5017" y="457200"/>
            <a:ext cx="4434840" cy="2412481"/>
          </a:xfrm>
          <a:prstGeom prst="rect">
            <a:avLst/>
          </a:prstGeom>
        </p:spPr>
      </p:pic>
      <p:sp>
        <p:nvSpPr>
          <p:cNvPr id="6" name="Meal vs snack frame"/>
          <p:cNvSpPr/>
          <p:nvPr/>
        </p:nvSpPr>
        <p:spPr>
          <a:xfrm>
            <a:off x="6529297" y="3025396"/>
            <a:ext cx="4526280" cy="3421124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7" name="Meal vs snack" descr="/tmp/claude-0/-home-user-Ppapp/b4da115c-35eb-5dad-8ee6-555569176c7b/scratchpad/v2/prep/q_m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017" y="3071116"/>
            <a:ext cx="4434840" cy="332968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E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naire page 2 frame"/>
          <p:cNvSpPr/>
          <p:nvPr/>
        </p:nvSpPr>
        <p:spPr>
          <a:xfrm>
            <a:off x="3677805" y="411480"/>
            <a:ext cx="4836085" cy="6035040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3" name="Questionnaire page 2" descr="/tmp/claude-0/-home-user-Ppapp/b4da115c-35eb-5dad-8ee6-555569176c7b/scratchpad/v2/prep/q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3525" y="457200"/>
            <a:ext cx="4744645" cy="59436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E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lement page 1 frame"/>
          <p:cNvSpPr/>
          <p:nvPr/>
        </p:nvSpPr>
        <p:spPr>
          <a:xfrm>
            <a:off x="672655" y="411480"/>
            <a:ext cx="4994225" cy="6035040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3" name="Supplement page 1" descr="/tmp/claude-0/-home-user-Ppapp/b4da115c-35eb-5dad-8ee6-555569176c7b/scratchpad/v2/prep/supp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75" y="457200"/>
            <a:ext cx="4902785" cy="5943600"/>
          </a:xfrm>
          <a:prstGeom prst="rect">
            <a:avLst/>
          </a:prstGeom>
        </p:spPr>
      </p:pic>
      <p:sp>
        <p:nvSpPr>
          <p:cNvPr id="4" name="Supplement page 2 frame"/>
          <p:cNvSpPr/>
          <p:nvPr/>
        </p:nvSpPr>
        <p:spPr>
          <a:xfrm>
            <a:off x="6124080" y="1473296"/>
            <a:ext cx="5394960" cy="3911408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5" name="Supplement page 2" descr="/tmp/claude-0/-home-user-Ppapp/b4da115c-35eb-5dad-8ee6-555569176c7b/scratchpad/v2/prep/supp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9800" y="1519016"/>
            <a:ext cx="5303520" cy="38199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1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B9CD3">
              <a:alpha val="10000"/>
            </a:srgbClr>
          </a:solidFill>
          <a:ln/>
        </p:spPr>
      </p:sp>
      <p:sp>
        <p:nvSpPr>
          <p:cNvPr id="3" name="Decor 2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4B9CD3">
              <a:alpha val="8000"/>
            </a:srgbClr>
          </a:solidFill>
          <a:ln/>
        </p:spPr>
      </p:sp>
      <p:sp>
        <p:nvSpPr>
          <p:cNvPr id="4" name="QA text"/>
          <p:cNvSpPr txBox="1"/>
          <p:nvPr/>
        </p:nvSpPr>
        <p:spPr>
          <a:xfrm>
            <a:off x="731520" y="173736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Questions/Concerns/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 Discussion???</a:t>
            </a:r>
            <a:endParaRPr lang="en-US" sz="4000" dirty="0"/>
          </a:p>
        </p:txBody>
      </p:sp>
      <p:sp>
        <p:nvSpPr>
          <p:cNvPr id="5" name="QA card"/>
          <p:cNvSpPr/>
          <p:nvPr/>
        </p:nvSpPr>
        <p:spPr>
          <a:xfrm>
            <a:off x="7223760" y="777240"/>
            <a:ext cx="4434840" cy="530352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6" name="QA image" descr="/tmp/claude-0/-home-user-Ppapp/b4da115c-35eb-5dad-8ee6-555569176c7b/scratchpad/v2/prep/q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373140"/>
            <a:ext cx="4069080" cy="4111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 things to Double Check for 2026</a:t>
            </a:r>
            <a:endParaRPr lang="en-US" sz="3200" dirty="0"/>
          </a:p>
        </p:txBody>
      </p:sp>
      <p:sp>
        <p:nvSpPr>
          <p:cNvPr id="3" name="Meals card"/>
          <p:cNvSpPr/>
          <p:nvPr/>
        </p:nvSpPr>
        <p:spPr>
          <a:xfrm>
            <a:off x="548640" y="1280160"/>
            <a:ext cx="4572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838200" tIns="76200" rIns="152400" bIns="7620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&amp; Entertainment &amp; Travel Expenses</a:t>
            </a:r>
            <a:endParaRPr lang="en-US" sz="19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entertainment expenses are non-deductible.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expenses – If questionable, flag it on Per 13 review checklist</a:t>
            </a:r>
            <a:endParaRPr lang="en-US" sz="1900" dirty="0"/>
          </a:p>
        </p:txBody>
      </p:sp>
      <p:sp>
        <p:nvSpPr>
          <p:cNvPr id="4" name="Meals badge"/>
          <p:cNvSpPr/>
          <p:nvPr/>
        </p:nvSpPr>
        <p:spPr>
          <a:xfrm>
            <a:off x="731520" y="210312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pic>
        <p:nvPicPr>
          <p:cNvPr id="5" name="Business meal illustration" descr="/tmp/claude-0/-home-user-Ppapp/b4da115c-35eb-5dad-8ee6-555569176c7b/scratchpad/v2/pics/lunch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566160"/>
            <a:ext cx="4572000" cy="2651760"/>
          </a:xfrm>
          <a:prstGeom prst="rect">
            <a:avLst/>
          </a:prstGeom>
        </p:spPr>
      </p:pic>
      <p:sp>
        <p:nvSpPr>
          <p:cNvPr id="6" name="Fifty card"/>
          <p:cNvSpPr/>
          <p:nvPr/>
        </p:nvSpPr>
        <p:spPr>
          <a:xfrm>
            <a:off x="5349240" y="1280160"/>
            <a:ext cx="6291072" cy="49377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7" name="Fifty badge"/>
          <p:cNvSpPr/>
          <p:nvPr/>
        </p:nvSpPr>
        <p:spPr>
          <a:xfrm>
            <a:off x="5623560" y="1527048"/>
            <a:ext cx="676656" cy="676656"/>
          </a:xfrm>
          <a:prstGeom prst="ellipse">
            <a:avLst/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700" dirty="0"/>
          </a:p>
        </p:txBody>
      </p:sp>
      <p:sp>
        <p:nvSpPr>
          <p:cNvPr id="8" name="Fifty title"/>
          <p:cNvSpPr txBox="1"/>
          <p:nvPr/>
        </p:nvSpPr>
        <p:spPr>
          <a:xfrm>
            <a:off x="6492240" y="1527048"/>
            <a:ext cx="49194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Meals: 50% Deductible Meals</a:t>
            </a:r>
            <a:endParaRPr lang="en-US" sz="2100" dirty="0"/>
          </a:p>
        </p:txBody>
      </p:sp>
      <p:sp>
        <p:nvSpPr>
          <p:cNvPr id="9" name="Fifty intro"/>
          <p:cNvSpPr txBox="1"/>
          <p:nvPr/>
        </p:nvSpPr>
        <p:spPr>
          <a:xfrm>
            <a:off x="5623560" y="2377440"/>
            <a:ext cx="5742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deduct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cost for qualifying business meals as long as an employee or business owner is present, the food is not lavish, and it is cleanly separated from any entertainment costs</a:t>
            </a:r>
            <a:endParaRPr lang="en-US" sz="1600" dirty="0"/>
          </a:p>
        </p:txBody>
      </p:sp>
      <p:sp>
        <p:nvSpPr>
          <p:cNvPr id="10" name="Meal circle 1"/>
          <p:cNvSpPr/>
          <p:nvPr/>
        </p:nvSpPr>
        <p:spPr>
          <a:xfrm>
            <a:off x="5623560" y="3593592"/>
            <a:ext cx="566928" cy="566928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1" name="Meal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3739896"/>
            <a:ext cx="274320" cy="274320"/>
          </a:xfrm>
          <a:prstGeom prst="rect">
            <a:avLst/>
          </a:prstGeom>
        </p:spPr>
      </p:pic>
      <p:sp>
        <p:nvSpPr>
          <p:cNvPr id="12" name="Meal text 1"/>
          <p:cNvSpPr txBox="1"/>
          <p:nvPr/>
        </p:nvSpPr>
        <p:spPr>
          <a:xfrm>
            <a:off x="6355080" y="3520440"/>
            <a:ext cx="5010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and Prospect Meals: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Meals with current or potential customers, clients, or consultants to discuss business.</a:t>
            </a:r>
            <a:endParaRPr lang="en-US" sz="1500" dirty="0"/>
          </a:p>
        </p:txBody>
      </p:sp>
      <p:sp>
        <p:nvSpPr>
          <p:cNvPr id="13" name="Meal circle 2"/>
          <p:cNvSpPr/>
          <p:nvPr/>
        </p:nvSpPr>
        <p:spPr>
          <a:xfrm>
            <a:off x="5623560" y="4489704"/>
            <a:ext cx="566928" cy="566928"/>
          </a:xfrm>
          <a:prstGeom prst="ellipse">
            <a:avLst/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</p:spPr>
      </p:sp>
      <p:pic>
        <p:nvPicPr>
          <p:cNvPr id="14" name="Meal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864" y="4636008"/>
            <a:ext cx="274320" cy="274320"/>
          </a:xfrm>
          <a:prstGeom prst="rect">
            <a:avLst/>
          </a:prstGeom>
        </p:spPr>
      </p:pic>
      <p:sp>
        <p:nvSpPr>
          <p:cNvPr id="15" name="Meal text 2"/>
          <p:cNvSpPr txBox="1"/>
          <p:nvPr/>
        </p:nvSpPr>
        <p:spPr>
          <a:xfrm>
            <a:off x="6355080" y="4416552"/>
            <a:ext cx="5010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Meals: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Meals purchased while traveling away from your tax home overnight for business purposes (including meals eaten alone).</a:t>
            </a:r>
            <a:endParaRPr lang="en-US" sz="1500" dirty="0"/>
          </a:p>
        </p:txBody>
      </p:sp>
      <p:sp>
        <p:nvSpPr>
          <p:cNvPr id="16" name="Meal circle 3"/>
          <p:cNvSpPr/>
          <p:nvPr/>
        </p:nvSpPr>
        <p:spPr>
          <a:xfrm>
            <a:off x="5623560" y="5385816"/>
            <a:ext cx="566928" cy="566928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7" name="Meal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864" y="5532120"/>
            <a:ext cx="274320" cy="274320"/>
          </a:xfrm>
          <a:prstGeom prst="rect">
            <a:avLst/>
          </a:prstGeom>
        </p:spPr>
      </p:pic>
      <p:sp>
        <p:nvSpPr>
          <p:cNvPr id="18" name="Meal text 3"/>
          <p:cNvSpPr txBox="1"/>
          <p:nvPr/>
        </p:nvSpPr>
        <p:spPr>
          <a:xfrm>
            <a:off x="6355080" y="5312664"/>
            <a:ext cx="5010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Development: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Meals during business meetings, conventions, or continuing education courses.</a:t>
            </a:r>
            <a:endParaRPr lang="en-US" sz="1500" dirty="0"/>
          </a:p>
        </p:txBody>
      </p:sp>
      <p:sp>
        <p:nvSpPr>
          <p:cNvPr id="19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 animBg="1"/>
      <p:bldP spid="15" grpId="0" animBg="1"/>
      <p:bldP spid="13" grpId="0" animBg="1"/>
      <p:bldP spid="18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&amp; Entertainment &amp; Travel Expenses – continued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48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 things to Double Check for 2026</a:t>
            </a:r>
            <a:endParaRPr lang="en-US" sz="3200" dirty="0"/>
          </a:p>
        </p:txBody>
      </p:sp>
      <p:sp>
        <p:nvSpPr>
          <p:cNvPr id="4" name="Meals col 1"/>
          <p:cNvSpPr/>
          <p:nvPr/>
        </p:nvSpPr>
        <p:spPr>
          <a:xfrm>
            <a:off x="548640" y="1417320"/>
            <a:ext cx="3566160" cy="48463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pic>
        <p:nvPicPr>
          <p:cNvPr id="5" name="Meals col 1 illustration" descr="/tmp/claude-0/-home-user-Ppapp/b4da115c-35eb-5dad-8ee6-555569176c7b/scratchpad/v2/pics/pizza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3291840" cy="1596542"/>
          </a:xfrm>
          <a:prstGeom prst="rect">
            <a:avLst/>
          </a:prstGeom>
        </p:spPr>
      </p:pic>
      <p:sp>
        <p:nvSpPr>
          <p:cNvPr id="6" name="Meals col 1 dot"/>
          <p:cNvSpPr/>
          <p:nvPr/>
        </p:nvSpPr>
        <p:spPr>
          <a:xfrm>
            <a:off x="777240" y="3397910"/>
            <a:ext cx="457200" cy="457200"/>
          </a:xfrm>
          <a:prstGeom prst="ellipse">
            <a:avLst/>
          </a:prstGeom>
          <a:solidFill>
            <a:srgbClr val="D1495B"/>
          </a:solidFill>
          <a:ln w="6350">
            <a:solidFill>
              <a:srgbClr val="D1495B"/>
            </a:solidFill>
            <a:prstDash val="solid"/>
          </a:ln>
        </p:spPr>
      </p:sp>
      <p:pic>
        <p:nvPicPr>
          <p:cNvPr id="7" name="Meals col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516782"/>
            <a:ext cx="219456" cy="219456"/>
          </a:xfrm>
          <a:prstGeom prst="rect">
            <a:avLst/>
          </a:prstGeom>
        </p:spPr>
      </p:pic>
      <p:sp>
        <p:nvSpPr>
          <p:cNvPr id="8" name="Meals col 1 head"/>
          <p:cNvSpPr txBox="1"/>
          <p:nvPr/>
        </p:nvSpPr>
        <p:spPr>
          <a:xfrm>
            <a:off x="1371600" y="330647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of the Employer / On-Site Meals:</a:t>
            </a:r>
            <a:endParaRPr lang="en-US" sz="1600" dirty="0"/>
          </a:p>
        </p:txBody>
      </p:sp>
      <p:sp>
        <p:nvSpPr>
          <p:cNvPr id="9" name="Meals col 1 body"/>
          <p:cNvSpPr txBox="1"/>
          <p:nvPr/>
        </p:nvSpPr>
        <p:spPr>
          <a:xfrm>
            <a:off x="777240" y="408371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Section 274(o), employer-provided meals in company cafeterias or on-site food provided to keep workers at the office are generally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deductible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starting in 2026, barring narrow legislative exceptions.</a:t>
            </a:r>
            <a:endParaRPr lang="en-US" sz="1400" dirty="0"/>
          </a:p>
        </p:txBody>
      </p:sp>
      <p:sp>
        <p:nvSpPr>
          <p:cNvPr id="10" name="Meals col 1 aside"/>
          <p:cNvSpPr txBox="1"/>
          <p:nvPr/>
        </p:nvSpPr>
        <p:spPr>
          <a:xfrm>
            <a:off x="777240" y="5715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9C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Pizza at 9 p.m. is dinner, not a deduction.</a:t>
            </a:r>
            <a:endParaRPr lang="en-US" sz="1300" dirty="0"/>
          </a:p>
        </p:txBody>
      </p:sp>
      <p:sp>
        <p:nvSpPr>
          <p:cNvPr id="11" name="Meals col 2"/>
          <p:cNvSpPr/>
          <p:nvPr/>
        </p:nvSpPr>
        <p:spPr>
          <a:xfrm>
            <a:off x="4311396" y="1417320"/>
            <a:ext cx="3566160" cy="48463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pic>
        <p:nvPicPr>
          <p:cNvPr id="12" name="Meals col 2 illustration" descr="/tmp/claude-0/-home-user-Ppapp/b4da115c-35eb-5dad-8ee6-555569176c7b/scratchpad/v2/pics/ticket_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556" y="1554480"/>
            <a:ext cx="3291840" cy="1596542"/>
          </a:xfrm>
          <a:prstGeom prst="rect">
            <a:avLst/>
          </a:prstGeom>
        </p:spPr>
      </p:pic>
      <p:sp>
        <p:nvSpPr>
          <p:cNvPr id="13" name="Meals col 2 dot"/>
          <p:cNvSpPr/>
          <p:nvPr/>
        </p:nvSpPr>
        <p:spPr>
          <a:xfrm>
            <a:off x="4539996" y="3397910"/>
            <a:ext cx="457200" cy="457200"/>
          </a:xfrm>
          <a:prstGeom prst="ellipse">
            <a:avLst/>
          </a:prstGeom>
          <a:solidFill>
            <a:srgbClr val="D1495B"/>
          </a:solidFill>
          <a:ln w="6350">
            <a:solidFill>
              <a:srgbClr val="D1495B"/>
            </a:solidFill>
            <a:prstDash val="solid"/>
          </a:ln>
        </p:spPr>
      </p:sp>
      <p:pic>
        <p:nvPicPr>
          <p:cNvPr id="14" name="Meals col 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868" y="3516782"/>
            <a:ext cx="219456" cy="219456"/>
          </a:xfrm>
          <a:prstGeom prst="rect">
            <a:avLst/>
          </a:prstGeom>
        </p:spPr>
      </p:pic>
      <p:sp>
        <p:nvSpPr>
          <p:cNvPr id="15" name="Meals col 2 head"/>
          <p:cNvSpPr txBox="1"/>
          <p:nvPr/>
        </p:nvSpPr>
        <p:spPr>
          <a:xfrm>
            <a:off x="5134356" y="330647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Combined with Food:</a:t>
            </a:r>
            <a:endParaRPr lang="en-US" sz="1600" dirty="0"/>
          </a:p>
        </p:txBody>
      </p:sp>
      <p:sp>
        <p:nvSpPr>
          <p:cNvPr id="16" name="Meals col 2 body"/>
          <p:cNvSpPr txBox="1"/>
          <p:nvPr/>
        </p:nvSpPr>
        <p:spPr>
          <a:xfrm>
            <a:off x="4539996" y="408371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food and beverage costs are bundled directly into an entertainment ticket or event, the entire cost may be disallowed.</a:t>
            </a:r>
            <a:endParaRPr lang="en-US" sz="1400" dirty="0"/>
          </a:p>
        </p:txBody>
      </p:sp>
      <p:sp>
        <p:nvSpPr>
          <p:cNvPr id="17" name="Meals col 2 aside"/>
          <p:cNvSpPr txBox="1"/>
          <p:nvPr/>
        </p:nvSpPr>
        <p:spPr>
          <a:xfrm>
            <a:off x="4539996" y="5715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9C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there’s a ticket, it’s probably not a deduction.</a:t>
            </a:r>
            <a:endParaRPr lang="en-US" sz="1300" dirty="0"/>
          </a:p>
        </p:txBody>
      </p:sp>
      <p:sp>
        <p:nvSpPr>
          <p:cNvPr id="18" name="Meals col 3"/>
          <p:cNvSpPr/>
          <p:nvPr/>
        </p:nvSpPr>
        <p:spPr>
          <a:xfrm>
            <a:off x="8074152" y="1417320"/>
            <a:ext cx="3566160" cy="48463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pic>
        <p:nvPicPr>
          <p:cNvPr id="19" name="Meals col 3 illustration" descr="/tmp/claude-0/-home-user-Ppapp/b4da115c-35eb-5dad-8ee6-555569176c7b/scratchpad/v2/pics/gift_w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1554480"/>
            <a:ext cx="3291840" cy="1596542"/>
          </a:xfrm>
          <a:prstGeom prst="rect">
            <a:avLst/>
          </a:prstGeom>
        </p:spPr>
      </p:pic>
      <p:sp>
        <p:nvSpPr>
          <p:cNvPr id="20" name="Meals col 3 dot"/>
          <p:cNvSpPr/>
          <p:nvPr/>
        </p:nvSpPr>
        <p:spPr>
          <a:xfrm>
            <a:off x="8302752" y="3397910"/>
            <a:ext cx="457200" cy="457200"/>
          </a:xfrm>
          <a:prstGeom prst="ellipse">
            <a:avLst/>
          </a:prstGeom>
          <a:solidFill>
            <a:srgbClr val="2A9D8F"/>
          </a:solidFill>
          <a:ln w="6350">
            <a:solidFill>
              <a:srgbClr val="2A9D8F"/>
            </a:solidFill>
            <a:prstDash val="solid"/>
          </a:ln>
        </p:spPr>
      </p:sp>
      <p:pic>
        <p:nvPicPr>
          <p:cNvPr id="21" name="Meals col 3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3516782"/>
            <a:ext cx="219456" cy="219456"/>
          </a:xfrm>
          <a:prstGeom prst="rect">
            <a:avLst/>
          </a:prstGeom>
        </p:spPr>
      </p:pic>
      <p:sp>
        <p:nvSpPr>
          <p:cNvPr id="22" name="Meals col 3 head"/>
          <p:cNvSpPr txBox="1"/>
          <p:nvPr/>
        </p:nvSpPr>
        <p:spPr>
          <a:xfrm>
            <a:off x="8897112" y="330647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Fully Deductible Exceptions</a:t>
            </a:r>
            <a:endParaRPr lang="en-US" sz="1600" dirty="0"/>
          </a:p>
        </p:txBody>
      </p:sp>
      <p:sp>
        <p:nvSpPr>
          <p:cNvPr id="23" name="Meals col 3 body"/>
          <p:cNvSpPr txBox="1"/>
          <p:nvPr/>
        </p:nvSpPr>
        <p:spPr>
          <a:xfrm>
            <a:off x="8302752" y="408371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Social Events: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Company-wide holiday parties, summer picnics, or team-building recreational events.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W-2 Compensation: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Meals treated as direct compensation or wages for employees (or independent contractors reported on 1099)</a:t>
            </a:r>
            <a:endParaRPr lang="en-US" sz="1400" dirty="0"/>
          </a:p>
        </p:txBody>
      </p:sp>
      <p:sp>
        <p:nvSpPr>
          <p:cNvPr id="24" name="Meals col 3 aside"/>
          <p:cNvSpPr txBox="1"/>
          <p:nvPr/>
        </p:nvSpPr>
        <p:spPr>
          <a:xfrm>
            <a:off x="8302752" y="57150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9C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Yes, the holiday party counts.</a:t>
            </a:r>
            <a:endParaRPr lang="en-US" sz="1300" dirty="0"/>
          </a:p>
        </p:txBody>
      </p:sp>
      <p:sp>
        <p:nvSpPr>
          <p:cNvPr id="25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 things to Double Check for 2026</a:t>
            </a:r>
            <a:endParaRPr lang="en-US" sz="3200" dirty="0"/>
          </a:p>
        </p:txBody>
      </p:sp>
      <p:sp>
        <p:nvSpPr>
          <p:cNvPr id="3" name="Check card 2"/>
          <p:cNvSpPr/>
          <p:nvPr/>
        </p:nvSpPr>
        <p:spPr>
          <a:xfrm>
            <a:off x="548640" y="1325880"/>
            <a:ext cx="544982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36600" tIns="50800" rIns="9652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NCPTE –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 PY BS Item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 CY P&amp;L Item</a:t>
            </a:r>
            <a:endParaRPr lang="en-US" sz="1900" dirty="0"/>
          </a:p>
        </p:txBody>
      </p:sp>
      <p:sp>
        <p:nvSpPr>
          <p:cNvPr id="4" name="Check badg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5" name="Check dot 2"/>
          <p:cNvSpPr/>
          <p:nvPr/>
        </p:nvSpPr>
        <p:spPr>
          <a:xfrm>
            <a:off x="5175504" y="1783080"/>
            <a:ext cx="548640" cy="54864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  <a:prstDash val="solid"/>
          </a:ln>
        </p:spPr>
      </p:sp>
      <p:pic>
        <p:nvPicPr>
          <p:cNvPr id="6" name="Check icon 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2664" y="1920240"/>
            <a:ext cx="274320" cy="274320"/>
          </a:xfrm>
          <a:prstGeom prst="rect">
            <a:avLst/>
          </a:prstGeom>
        </p:spPr>
      </p:pic>
      <p:sp>
        <p:nvSpPr>
          <p:cNvPr id="7" name="Check card 3"/>
          <p:cNvSpPr/>
          <p:nvPr/>
        </p:nvSpPr>
        <p:spPr>
          <a:xfrm>
            <a:off x="6190488" y="1325880"/>
            <a:ext cx="544982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36600" tIns="50800" rIns="9652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tied out- Interest booked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not responding doesn’t help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☹</a:t>
            </a:r>
            <a:endParaRPr lang="en-US" sz="1900" dirty="0"/>
          </a:p>
        </p:txBody>
      </p:sp>
      <p:sp>
        <p:nvSpPr>
          <p:cNvPr id="8" name="Check badge 3"/>
          <p:cNvSpPr/>
          <p:nvPr/>
        </p:nvSpPr>
        <p:spPr>
          <a:xfrm>
            <a:off x="6373368" y="182880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Check dot 3"/>
          <p:cNvSpPr/>
          <p:nvPr/>
        </p:nvSpPr>
        <p:spPr>
          <a:xfrm>
            <a:off x="10817352" y="1783080"/>
            <a:ext cx="548640" cy="54864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  <a:prstDash val="solid"/>
          </a:ln>
        </p:spPr>
      </p:sp>
      <p:pic>
        <p:nvPicPr>
          <p:cNvPr id="10" name="Check icon 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920240"/>
            <a:ext cx="274320" cy="274320"/>
          </a:xfrm>
          <a:prstGeom prst="rect">
            <a:avLst/>
          </a:prstGeom>
        </p:spPr>
      </p:pic>
      <p:sp>
        <p:nvSpPr>
          <p:cNvPr id="11" name="Check card 4"/>
          <p:cNvSpPr/>
          <p:nvPr/>
        </p:nvSpPr>
        <p:spPr>
          <a:xfrm>
            <a:off x="548640" y="2971800"/>
            <a:ext cx="544982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36600" tIns="50800" rIns="9652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taxes</a:t>
            </a:r>
            <a:endParaRPr lang="en-US" sz="1900" dirty="0"/>
          </a:p>
        </p:txBody>
      </p:sp>
      <p:sp>
        <p:nvSpPr>
          <p:cNvPr id="12" name="Check badge 4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Check dot 4"/>
          <p:cNvSpPr/>
          <p:nvPr/>
        </p:nvSpPr>
        <p:spPr>
          <a:xfrm>
            <a:off x="5175504" y="3429000"/>
            <a:ext cx="548640" cy="54864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  <a:prstDash val="solid"/>
          </a:ln>
        </p:spPr>
      </p:sp>
      <p:pic>
        <p:nvPicPr>
          <p:cNvPr id="14" name="Check icon 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664" y="3566160"/>
            <a:ext cx="274320" cy="274320"/>
          </a:xfrm>
          <a:prstGeom prst="rect">
            <a:avLst/>
          </a:prstGeom>
        </p:spPr>
      </p:pic>
      <p:sp>
        <p:nvSpPr>
          <p:cNvPr id="15" name="Check card 5"/>
          <p:cNvSpPr/>
          <p:nvPr/>
        </p:nvSpPr>
        <p:spPr>
          <a:xfrm>
            <a:off x="6190488" y="2971800"/>
            <a:ext cx="544982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36600" tIns="50800" rIns="9652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Vehicles: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company books - did we ask for mileage?</a:t>
            </a:r>
            <a:endParaRPr lang="en-US" sz="1900" dirty="0"/>
          </a:p>
        </p:txBody>
      </p:sp>
      <p:sp>
        <p:nvSpPr>
          <p:cNvPr id="16" name="Check badge 5"/>
          <p:cNvSpPr/>
          <p:nvPr/>
        </p:nvSpPr>
        <p:spPr>
          <a:xfrm>
            <a:off x="6373368" y="347472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Check dot 5"/>
          <p:cNvSpPr/>
          <p:nvPr/>
        </p:nvSpPr>
        <p:spPr>
          <a:xfrm>
            <a:off x="10817352" y="3429000"/>
            <a:ext cx="548640" cy="54864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  <a:prstDash val="solid"/>
          </a:ln>
        </p:spPr>
      </p:sp>
      <p:pic>
        <p:nvPicPr>
          <p:cNvPr id="18" name="Check icon 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3566160"/>
            <a:ext cx="274320" cy="274320"/>
          </a:xfrm>
          <a:prstGeom prst="rect">
            <a:avLst/>
          </a:prstGeom>
        </p:spPr>
      </p:pic>
      <p:sp>
        <p:nvSpPr>
          <p:cNvPr id="19" name="Check card 6"/>
          <p:cNvSpPr/>
          <p:nvPr/>
        </p:nvSpPr>
        <p:spPr>
          <a:xfrm>
            <a:off x="548640" y="4617720"/>
            <a:ext cx="544982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36600" tIns="50800" rIns="9652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Gas/Auto repair expenses on books: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 make sure vehicles are on company books</a:t>
            </a:r>
            <a:endParaRPr lang="en-US" sz="1900" dirty="0"/>
          </a:p>
        </p:txBody>
      </p:sp>
      <p:sp>
        <p:nvSpPr>
          <p:cNvPr id="20" name="Check badge 6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Check dot 6"/>
          <p:cNvSpPr/>
          <p:nvPr/>
        </p:nvSpPr>
        <p:spPr>
          <a:xfrm>
            <a:off x="5175504" y="5074920"/>
            <a:ext cx="548640" cy="54864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  <a:prstDash val="solid"/>
          </a:ln>
        </p:spPr>
      </p:sp>
      <p:pic>
        <p:nvPicPr>
          <p:cNvPr id="22" name="Check icon 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5212080"/>
            <a:ext cx="274320" cy="274320"/>
          </a:xfrm>
          <a:prstGeom prst="rect">
            <a:avLst/>
          </a:prstGeom>
        </p:spPr>
      </p:pic>
      <p:sp>
        <p:nvSpPr>
          <p:cNvPr id="23" name="Check card 7"/>
          <p:cNvSpPr/>
          <p:nvPr/>
        </p:nvSpPr>
        <p:spPr>
          <a:xfrm>
            <a:off x="6190488" y="4617720"/>
            <a:ext cx="5449824" cy="1463040"/>
          </a:xfrm>
          <a:prstGeom prst="roundRect">
            <a:avLst>
              <a:gd name="adj" fmla="val 7500"/>
            </a:avLst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736600" tIns="50800" rIns="9652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Tools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rgbClr val="CF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discuss Small tools in detail in next few slides</a:t>
            </a:r>
            <a:endParaRPr lang="en-US" sz="1900" dirty="0"/>
          </a:p>
        </p:txBody>
      </p:sp>
      <p:sp>
        <p:nvSpPr>
          <p:cNvPr id="24" name="Check badge 7"/>
          <p:cNvSpPr/>
          <p:nvPr/>
        </p:nvSpPr>
        <p:spPr>
          <a:xfrm>
            <a:off x="6373368" y="5120640"/>
            <a:ext cx="457200" cy="457200"/>
          </a:xfrm>
          <a:prstGeom prst="ellipse">
            <a:avLst/>
          </a:prstGeom>
          <a:solidFill>
            <a:srgbClr val="F2B84B"/>
          </a:solidFill>
          <a:ln w="6350">
            <a:solidFill>
              <a:srgbClr val="F2B8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Check dot 7"/>
          <p:cNvSpPr/>
          <p:nvPr/>
        </p:nvSpPr>
        <p:spPr>
          <a:xfrm>
            <a:off x="10817352" y="5074920"/>
            <a:ext cx="548640" cy="548640"/>
          </a:xfrm>
          <a:prstGeom prst="ellipse">
            <a:avLst/>
          </a:prstGeom>
          <a:solidFill>
            <a:srgbClr val="13315C"/>
          </a:solidFill>
          <a:ln w="6350">
            <a:solidFill>
              <a:srgbClr val="13315C"/>
            </a:solidFill>
            <a:prstDash val="solid"/>
          </a:ln>
        </p:spPr>
      </p:sp>
      <p:pic>
        <p:nvPicPr>
          <p:cNvPr id="26" name="Check icon 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5212080"/>
            <a:ext cx="274320" cy="274320"/>
          </a:xfrm>
          <a:prstGeom prst="rect">
            <a:avLst/>
          </a:prstGeom>
        </p:spPr>
      </p:pic>
      <p:sp>
        <p:nvSpPr>
          <p:cNvPr id="27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4" grpId="0" animBg="1"/>
      <p:bldP spid="7" grpId="0" animBg="1"/>
      <p:bldP spid="9" grpId="0" animBg="1"/>
      <p:bldP spid="8" grpId="0" animBg="1"/>
      <p:bldP spid="11" grpId="0" animBg="1"/>
      <p:bldP spid="13" grpId="0" animBg="1"/>
      <p:bldP spid="12" grpId="0" animBg="1"/>
      <p:bldP spid="15" grpId="0" animBg="1"/>
      <p:bldP spid="17" grpId="0" animBg="1"/>
      <p:bldP spid="16" grpId="0" animBg="1"/>
      <p:bldP spid="19" grpId="0" animBg="1"/>
      <p:bldP spid="21" grpId="0" animBg="1"/>
      <p:bldP spid="20" grpId="0" animBg="1"/>
      <p:bldP spid="23" grpId="0" animBg="1"/>
      <p:bldP spid="25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de minimis safe harbor election!</a:t>
            </a:r>
            <a:endParaRPr lang="en-US" sz="3200" dirty="0"/>
          </a:p>
        </p:txBody>
      </p:sp>
      <p:sp>
        <p:nvSpPr>
          <p:cNvPr id="3" name="Citation chip"/>
          <p:cNvSpPr/>
          <p:nvPr/>
        </p:nvSpPr>
        <p:spPr>
          <a:xfrm>
            <a:off x="548640" y="1097280"/>
            <a:ext cx="1828800" cy="365760"/>
          </a:xfrm>
          <a:prstGeom prst="roundRect">
            <a:avLst>
              <a:gd name="adj" fmla="val 42500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1.263(a)-1(f)</a:t>
            </a:r>
            <a:endParaRPr lang="en-US" sz="1500" dirty="0"/>
          </a:p>
        </p:txBody>
      </p:sp>
      <p:sp>
        <p:nvSpPr>
          <p:cNvPr id="4" name="Definition"/>
          <p:cNvSpPr/>
          <p:nvPr/>
        </p:nvSpPr>
        <p:spPr>
          <a:xfrm>
            <a:off x="548640" y="17373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330200" tIns="50800" rIns="2032000" bIns="5080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minimis – 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you to deduct smaller expenses that would otherwise need to be capitalized</a:t>
            </a:r>
            <a:endParaRPr lang="en-US" sz="2400" dirty="0"/>
          </a:p>
        </p:txBody>
      </p:sp>
      <p:pic>
        <p:nvPicPr>
          <p:cNvPr id="5" name="Price tag illustration" descr="/tmp/claude-0/-home-user-Ppapp/b4da115c-35eb-5dad-8ee6-555569176c7b/scratchpad/v2/pics/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00"/>
            <a:ext cx="1581912" cy="1188720"/>
          </a:xfrm>
          <a:prstGeom prst="rect">
            <a:avLst/>
          </a:prstGeom>
        </p:spPr>
      </p:pic>
      <p:sp>
        <p:nvSpPr>
          <p:cNvPr id="6" name="Condition 1"/>
          <p:cNvSpPr/>
          <p:nvPr/>
        </p:nvSpPr>
        <p:spPr>
          <a:xfrm>
            <a:off x="548640" y="3429000"/>
            <a:ext cx="5166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7" name="Condition 1 badge"/>
          <p:cNvSpPr/>
          <p:nvPr/>
        </p:nvSpPr>
        <p:spPr>
          <a:xfrm>
            <a:off x="868680" y="3749040"/>
            <a:ext cx="640080" cy="64008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Condition 1 stat"/>
          <p:cNvSpPr txBox="1"/>
          <p:nvPr/>
        </p:nvSpPr>
        <p:spPr>
          <a:xfrm>
            <a:off x="173736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4B9C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$2,500</a:t>
            </a:r>
            <a:endParaRPr lang="en-US" sz="3800" dirty="0"/>
          </a:p>
        </p:txBody>
      </p:sp>
      <p:sp>
        <p:nvSpPr>
          <p:cNvPr id="9" name="Condition 1 text"/>
          <p:cNvSpPr txBox="1"/>
          <p:nvPr/>
        </p:nvSpPr>
        <p:spPr>
          <a:xfrm>
            <a:off x="868680" y="461772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does not exceed </a:t>
            </a:r>
            <a:r>
              <a:rPr lang="en-US" sz="2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</a:t>
            </a:r>
            <a:r>
              <a:rPr lang="en-US" sz="2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($500 for amounts incurred prior to January 1, 2016) per invoice or per item</a:t>
            </a:r>
            <a:endParaRPr lang="en-US" sz="2100" dirty="0"/>
          </a:p>
        </p:txBody>
      </p:sp>
      <p:sp>
        <p:nvSpPr>
          <p:cNvPr id="10" name="Condition 2"/>
          <p:cNvSpPr/>
          <p:nvPr/>
        </p:nvSpPr>
        <p:spPr>
          <a:xfrm>
            <a:off x="6473952" y="3429000"/>
            <a:ext cx="5166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11" name="Condition 2 badge"/>
          <p:cNvSpPr/>
          <p:nvPr/>
        </p:nvSpPr>
        <p:spPr>
          <a:xfrm>
            <a:off x="6793992" y="3749040"/>
            <a:ext cx="640080" cy="64008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Condition 2 stat"/>
          <p:cNvSpPr txBox="1"/>
          <p:nvPr/>
        </p:nvSpPr>
        <p:spPr>
          <a:xfrm>
            <a:off x="7662672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800" b="1" dirty="0">
                <a:solidFill>
                  <a:srgbClr val="4B9C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3800" dirty="0"/>
          </a:p>
        </p:txBody>
      </p:sp>
      <p:sp>
        <p:nvSpPr>
          <p:cNvPr id="13" name="Condition 2 text"/>
          <p:cNvSpPr txBox="1"/>
          <p:nvPr/>
        </p:nvSpPr>
        <p:spPr>
          <a:xfrm>
            <a:off x="6793992" y="461772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useful life of the property does not exceed </a:t>
            </a:r>
            <a:r>
              <a:rPr lang="en-US" sz="2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</a:t>
            </a:r>
            <a:r>
              <a:rPr lang="en-US" sz="2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Additional rules and exceptions apply. </a:t>
            </a:r>
            <a:endParaRPr lang="en-US" sz="2100" dirty="0"/>
          </a:p>
        </p:txBody>
      </p:sp>
      <p:sp>
        <p:nvSpPr>
          <p:cNvPr id="14" name="Or badge"/>
          <p:cNvSpPr/>
          <p:nvPr/>
        </p:nvSpPr>
        <p:spPr>
          <a:xfrm>
            <a:off x="5843016" y="4530852"/>
            <a:ext cx="502920" cy="502920"/>
          </a:xfrm>
          <a:prstGeom prst="ellipse">
            <a:avLst/>
          </a:prstGeom>
          <a:solidFill>
            <a:srgbClr val="F2B84B"/>
          </a:solidFill>
          <a:ln w="6350">
            <a:solidFill>
              <a:srgbClr val="F2B8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</a:t>
            </a:r>
            <a:endParaRPr lang="en-US" sz="1600" dirty="0"/>
          </a:p>
        </p:txBody>
      </p:sp>
      <p:sp>
        <p:nvSpPr>
          <p:cNvPr id="15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  <p:bldP spid="7" grpId="0" animBg="1"/>
      <p:bldP spid="8" grpId="0" animBg="1"/>
      <p:bldP spid="14" grpId="0" animBg="1"/>
      <p:bldP spid="10" grpId="0" animBg="1"/>
      <p:bldP spid="13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Exceptions to de minimis safe harbor election</a:t>
            </a:r>
            <a:endParaRPr lang="en-US" sz="3200" dirty="0"/>
          </a:p>
        </p:txBody>
      </p:sp>
      <p:sp>
        <p:nvSpPr>
          <p:cNvPr id="3" name="Exception card 1"/>
          <p:cNvSpPr/>
          <p:nvPr/>
        </p:nvSpPr>
        <p:spPr>
          <a:xfrm>
            <a:off x="548640" y="1280160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2100" dirty="0"/>
          </a:p>
        </p:txBody>
      </p:sp>
      <p:sp>
        <p:nvSpPr>
          <p:cNvPr id="4" name="Exception circle 1"/>
          <p:cNvSpPr/>
          <p:nvPr/>
        </p:nvSpPr>
        <p:spPr>
          <a:xfrm>
            <a:off x="777240" y="15087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5" name="Exceptio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668780"/>
            <a:ext cx="365760" cy="365760"/>
          </a:xfrm>
          <a:prstGeom prst="rect">
            <a:avLst/>
          </a:prstGeom>
        </p:spPr>
      </p:pic>
      <p:sp>
        <p:nvSpPr>
          <p:cNvPr id="6" name="Exception card 2"/>
          <p:cNvSpPr/>
          <p:nvPr/>
        </p:nvSpPr>
        <p:spPr>
          <a:xfrm>
            <a:off x="3364992" y="1280160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Leasehold Improvements</a:t>
            </a:r>
            <a:endParaRPr lang="en-US" sz="2100" dirty="0"/>
          </a:p>
        </p:txBody>
      </p:sp>
      <p:sp>
        <p:nvSpPr>
          <p:cNvPr id="7" name="Exception circle 2"/>
          <p:cNvSpPr/>
          <p:nvPr/>
        </p:nvSpPr>
        <p:spPr>
          <a:xfrm>
            <a:off x="3593592" y="15087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8" name="Exception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12" y="1668780"/>
            <a:ext cx="365760" cy="365760"/>
          </a:xfrm>
          <a:prstGeom prst="rect">
            <a:avLst/>
          </a:prstGeom>
        </p:spPr>
      </p:pic>
      <p:sp>
        <p:nvSpPr>
          <p:cNvPr id="9" name="Exception card 3"/>
          <p:cNvSpPr/>
          <p:nvPr/>
        </p:nvSpPr>
        <p:spPr>
          <a:xfrm>
            <a:off x="6181344" y="1280160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 Assets</a:t>
            </a:r>
            <a:endParaRPr lang="en-US" sz="2100" dirty="0"/>
          </a:p>
        </p:txBody>
      </p:sp>
      <p:sp>
        <p:nvSpPr>
          <p:cNvPr id="10" name="Exception circle 3"/>
          <p:cNvSpPr/>
          <p:nvPr/>
        </p:nvSpPr>
        <p:spPr>
          <a:xfrm>
            <a:off x="6409944" y="15087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1" name="Exception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964" y="1668780"/>
            <a:ext cx="365760" cy="365760"/>
          </a:xfrm>
          <a:prstGeom prst="rect">
            <a:avLst/>
          </a:prstGeom>
        </p:spPr>
      </p:pic>
      <p:sp>
        <p:nvSpPr>
          <p:cNvPr id="12" name="Exception card 4"/>
          <p:cNvSpPr/>
          <p:nvPr/>
        </p:nvSpPr>
        <p:spPr>
          <a:xfrm>
            <a:off x="8997696" y="1280160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2100" dirty="0"/>
          </a:p>
        </p:txBody>
      </p:sp>
      <p:sp>
        <p:nvSpPr>
          <p:cNvPr id="13" name="Exception circle 4"/>
          <p:cNvSpPr/>
          <p:nvPr/>
        </p:nvSpPr>
        <p:spPr>
          <a:xfrm>
            <a:off x="9226296" y="15087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4" name="Exception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316" y="1668780"/>
            <a:ext cx="365760" cy="365760"/>
          </a:xfrm>
          <a:prstGeom prst="rect">
            <a:avLst/>
          </a:prstGeom>
        </p:spPr>
      </p:pic>
      <p:sp>
        <p:nvSpPr>
          <p:cNvPr id="15" name="Exception card 5"/>
          <p:cNvSpPr/>
          <p:nvPr/>
        </p:nvSpPr>
        <p:spPr>
          <a:xfrm>
            <a:off x="548640" y="3858768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2100" dirty="0"/>
          </a:p>
        </p:txBody>
      </p:sp>
      <p:sp>
        <p:nvSpPr>
          <p:cNvPr id="16" name="Exception circle 5"/>
          <p:cNvSpPr/>
          <p:nvPr/>
        </p:nvSpPr>
        <p:spPr>
          <a:xfrm>
            <a:off x="777240" y="4087368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7" name="Exception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247388"/>
            <a:ext cx="365760" cy="365760"/>
          </a:xfrm>
          <a:prstGeom prst="rect">
            <a:avLst/>
          </a:prstGeom>
        </p:spPr>
      </p:pic>
      <p:sp>
        <p:nvSpPr>
          <p:cNvPr id="18" name="Exception card 6"/>
          <p:cNvSpPr/>
          <p:nvPr/>
        </p:nvSpPr>
        <p:spPr>
          <a:xfrm>
            <a:off x="3364992" y="3858768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Inventory/Parts purchased for resale (held for customers)</a:t>
            </a:r>
            <a:endParaRPr lang="en-US" sz="1600" dirty="0"/>
          </a:p>
        </p:txBody>
      </p:sp>
      <p:sp>
        <p:nvSpPr>
          <p:cNvPr id="19" name="Exception circle 6"/>
          <p:cNvSpPr/>
          <p:nvPr/>
        </p:nvSpPr>
        <p:spPr>
          <a:xfrm>
            <a:off x="3593592" y="4087368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20" name="Exception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3612" y="4247388"/>
            <a:ext cx="365760" cy="365760"/>
          </a:xfrm>
          <a:prstGeom prst="rect">
            <a:avLst/>
          </a:prstGeom>
        </p:spPr>
      </p:pic>
      <p:sp>
        <p:nvSpPr>
          <p:cNvPr id="21" name="Exception card 7"/>
          <p:cNvSpPr/>
          <p:nvPr/>
        </p:nvSpPr>
        <p:spPr>
          <a:xfrm>
            <a:off x="6181344" y="3858768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100" dirty="0"/>
          </a:p>
        </p:txBody>
      </p:sp>
      <p:sp>
        <p:nvSpPr>
          <p:cNvPr id="22" name="Exception circle 7"/>
          <p:cNvSpPr/>
          <p:nvPr/>
        </p:nvSpPr>
        <p:spPr>
          <a:xfrm>
            <a:off x="6409944" y="4087368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23" name="Exception icon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9964" y="4247388"/>
            <a:ext cx="365760" cy="365760"/>
          </a:xfrm>
          <a:prstGeom prst="rect">
            <a:avLst/>
          </a:prstGeom>
        </p:spPr>
      </p:pic>
      <p:sp>
        <p:nvSpPr>
          <p:cNvPr id="24" name="Exception card 8"/>
          <p:cNvSpPr/>
          <p:nvPr/>
        </p:nvSpPr>
        <p:spPr>
          <a:xfrm>
            <a:off x="8997696" y="3858768"/>
            <a:ext cx="2633472" cy="2377440"/>
          </a:xfrm>
          <a:prstGeom prst="roundRect">
            <a:avLst>
              <a:gd name="adj" fmla="val 4615"/>
            </a:avLst>
          </a:prstGeom>
          <a:solidFill>
            <a:srgbClr val="0B2545"/>
          </a:solidFill>
          <a:ln w="12700">
            <a:solidFill>
              <a:srgbClr val="0B2545"/>
            </a:solidFill>
          </a:ln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other property that doesn't qualify under the de minimis safe harbor</a:t>
            </a:r>
            <a:endParaRPr lang="en-US" sz="1600" dirty="0"/>
          </a:p>
        </p:txBody>
      </p:sp>
      <p:sp>
        <p:nvSpPr>
          <p:cNvPr id="25" name="Exception circle 8"/>
          <p:cNvSpPr/>
          <p:nvPr/>
        </p:nvSpPr>
        <p:spPr>
          <a:xfrm>
            <a:off x="9226296" y="4087368"/>
            <a:ext cx="685800" cy="685800"/>
          </a:xfrm>
          <a:prstGeom prst="ellipse">
            <a:avLst/>
          </a:prstGeom>
          <a:solidFill>
            <a:srgbClr val="F2B84B"/>
          </a:solidFill>
          <a:ln w="6350">
            <a:solidFill>
              <a:srgbClr val="F2B84B"/>
            </a:solidFill>
            <a:prstDash val="solid"/>
          </a:ln>
        </p:spPr>
      </p:sp>
      <p:pic>
        <p:nvPicPr>
          <p:cNvPr id="26" name="Exception icon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4247388"/>
            <a:ext cx="365760" cy="365760"/>
          </a:xfrm>
          <a:prstGeom prst="rect">
            <a:avLst/>
          </a:prstGeom>
        </p:spPr>
      </p:pic>
      <p:sp>
        <p:nvSpPr>
          <p:cNvPr id="27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xample card 1"/>
          <p:cNvSpPr/>
          <p:nvPr/>
        </p:nvSpPr>
        <p:spPr>
          <a:xfrm>
            <a:off x="548640" y="502920"/>
            <a:ext cx="110916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717800" tIns="76200" rIns="279400" bIns="762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Alex buys two computers for her business at $2,000 each for a total cost of $4,000, as shown on the invoice. By using the de minimis safe harbor, she can deduct the entire $4,000 expense in a single year, provided the requirements to use the safe harbor are satisfied.</a:t>
            </a:r>
            <a:endParaRPr lang="en-US" sz="1900" dirty="0"/>
          </a:p>
        </p:txBody>
      </p:sp>
      <p:pic>
        <p:nvPicPr>
          <p:cNvPr id="3" name="Example picture 1" descr="/tmp/claude-0/-home-user-Ppapp/b4da115c-35eb-5dad-8ee6-555569176c7b/scratchpad/v2/pics/lapt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94360"/>
            <a:ext cx="2194560" cy="1645920"/>
          </a:xfrm>
          <a:prstGeom prst="rect">
            <a:avLst/>
          </a:prstGeom>
        </p:spPr>
      </p:pic>
      <p:sp>
        <p:nvSpPr>
          <p:cNvPr id="4" name="Example card 2"/>
          <p:cNvSpPr/>
          <p:nvPr/>
        </p:nvSpPr>
        <p:spPr>
          <a:xfrm>
            <a:off x="548640" y="2487168"/>
            <a:ext cx="110916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717800" tIns="76200" rIns="279400" bIns="762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Shelby buys a $2,000 camera and uses it 50% of the time for her photography business and 50% of the time for personal purposes. She can deduct $1,000 of the cost using the de minimis safe harbor. But she couldn't deduct the camera using the safe harbor election if it cost more than $2,500</a:t>
            </a:r>
            <a:endParaRPr lang="en-US" sz="1900" dirty="0"/>
          </a:p>
        </p:txBody>
      </p:sp>
      <p:pic>
        <p:nvPicPr>
          <p:cNvPr id="5" name="Example picture 2" descr="/tmp/claude-0/-home-user-Ppapp/b4da115c-35eb-5dad-8ee6-555569176c7b/scratchpad/v2/pics/came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78608"/>
            <a:ext cx="2194560" cy="1645920"/>
          </a:xfrm>
          <a:prstGeom prst="rect">
            <a:avLst/>
          </a:prstGeom>
        </p:spPr>
      </p:pic>
      <p:sp>
        <p:nvSpPr>
          <p:cNvPr id="6" name="Example card 3"/>
          <p:cNvSpPr/>
          <p:nvPr/>
        </p:nvSpPr>
        <p:spPr>
          <a:xfrm>
            <a:off x="548640" y="4471416"/>
            <a:ext cx="11091672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2717800" tIns="76200" rIns="279400" bIns="762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Alex buys a desk for her office for $3,000. She tells the store to separately bill her $250 for each of the four desk drawers and $2,000 for the rest of the desk. Because a desk usually includes drawers as part of a single unit, the IRS adds the cost of each component to determine that the actual cost is $3,000. So, the desk doesn't qualify for the de minimis safe harbor.</a:t>
            </a:r>
            <a:endParaRPr lang="en-US" sz="1900" dirty="0"/>
          </a:p>
        </p:txBody>
      </p:sp>
      <p:pic>
        <p:nvPicPr>
          <p:cNvPr id="7" name="Example picture 3" descr="/tmp/claude-0/-home-user-Ppapp/b4da115c-35eb-5dad-8ee6-555569176c7b/scratchpad/v2/pics/de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62856"/>
            <a:ext cx="2194560" cy="1645920"/>
          </a:xfrm>
          <a:prstGeom prst="rect">
            <a:avLst/>
          </a:prstGeom>
        </p:spPr>
      </p:pic>
      <p:sp>
        <p:nvSpPr>
          <p:cNvPr id="8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Scenarios</a:t>
            </a:r>
            <a:endParaRPr lang="en-US" sz="3200" dirty="0"/>
          </a:p>
        </p:txBody>
      </p:sp>
      <p:sp>
        <p:nvSpPr>
          <p:cNvPr id="3" name="Scenario prompt"/>
          <p:cNvSpPr txBox="1"/>
          <p:nvPr/>
        </p:nvSpPr>
        <p:spPr>
          <a:xfrm>
            <a:off x="548640" y="8961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B9C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Expense it or capitalize it?</a:t>
            </a:r>
            <a:endParaRPr lang="en-US" sz="1800" dirty="0"/>
          </a:p>
        </p:txBody>
      </p:sp>
      <p:pic>
        <p:nvPicPr>
          <p:cNvPr id="4" name="Factory illustration" descr="/tmp/claude-0/-home-user-Ppapp/b4da115c-35eb-5dad-8ee6-555569176c7b/scratchpad/v2/pics/factory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274320"/>
            <a:ext cx="1627632" cy="914400"/>
          </a:xfrm>
          <a:prstGeom prst="rect">
            <a:avLst/>
          </a:prstGeom>
        </p:spPr>
      </p:pic>
      <p:sp>
        <p:nvSpPr>
          <p:cNvPr id="5" name="Scenario row 1"/>
          <p:cNvSpPr/>
          <p:nvPr/>
        </p:nvSpPr>
        <p:spPr>
          <a:xfrm>
            <a:off x="548640" y="14173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repair and maintenance on the manufacturing facility:</a:t>
            </a:r>
            <a:endParaRPr lang="en-US" sz="1500" dirty="0"/>
          </a:p>
        </p:txBody>
      </p:sp>
      <p:sp>
        <p:nvSpPr>
          <p:cNvPr id="6" name="Scenario badge 1"/>
          <p:cNvSpPr/>
          <p:nvPr/>
        </p:nvSpPr>
        <p:spPr>
          <a:xfrm>
            <a:off x="667512" y="1508760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cenario answer 1"/>
          <p:cNvSpPr/>
          <p:nvPr/>
        </p:nvSpPr>
        <p:spPr>
          <a:xfrm>
            <a:off x="7891272" y="1490472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Expensed</a:t>
            </a:r>
            <a:endParaRPr lang="en-US" sz="1600" dirty="0"/>
          </a:p>
        </p:txBody>
      </p:sp>
      <p:sp>
        <p:nvSpPr>
          <p:cNvPr id="8" name="Scenario row 2"/>
          <p:cNvSpPr/>
          <p:nvPr/>
        </p:nvSpPr>
        <p:spPr>
          <a:xfrm>
            <a:off x="548640" y="2039112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taxes on new equipment used in business operations:</a:t>
            </a:r>
            <a:endParaRPr lang="en-US" sz="1500" dirty="0"/>
          </a:p>
        </p:txBody>
      </p:sp>
      <p:sp>
        <p:nvSpPr>
          <p:cNvPr id="9" name="Scenario badge 2"/>
          <p:cNvSpPr/>
          <p:nvPr/>
        </p:nvSpPr>
        <p:spPr>
          <a:xfrm>
            <a:off x="667512" y="2130552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cenario answer 2"/>
          <p:cNvSpPr/>
          <p:nvPr/>
        </p:nvSpPr>
        <p:spPr>
          <a:xfrm>
            <a:off x="7891272" y="2112264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13315C"/>
          </a:solidFill>
          <a:ln w="6350">
            <a:solidFill>
              <a:srgbClr val="13315C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Capitalized</a:t>
            </a:r>
            <a:endParaRPr lang="en-US" sz="1600" dirty="0"/>
          </a:p>
        </p:txBody>
      </p:sp>
      <p:sp>
        <p:nvSpPr>
          <p:cNvPr id="11" name="Scenario row 3"/>
          <p:cNvSpPr/>
          <p:nvPr/>
        </p:nvSpPr>
        <p:spPr>
          <a:xfrm>
            <a:off x="548640" y="2660904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costs on new equipment used in business operations:</a:t>
            </a:r>
            <a:endParaRPr lang="en-US" sz="1500" dirty="0"/>
          </a:p>
        </p:txBody>
      </p:sp>
      <p:sp>
        <p:nvSpPr>
          <p:cNvPr id="12" name="Scenario badge 3"/>
          <p:cNvSpPr/>
          <p:nvPr/>
        </p:nvSpPr>
        <p:spPr>
          <a:xfrm>
            <a:off x="667512" y="2752344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Scenario answer 3"/>
          <p:cNvSpPr/>
          <p:nvPr/>
        </p:nvSpPr>
        <p:spPr>
          <a:xfrm>
            <a:off x="7891272" y="2734056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13315C"/>
          </a:solidFill>
          <a:ln w="6350">
            <a:solidFill>
              <a:srgbClr val="13315C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Capitalized</a:t>
            </a:r>
            <a:endParaRPr lang="en-US" sz="1600" dirty="0"/>
          </a:p>
        </p:txBody>
      </p:sp>
      <p:sp>
        <p:nvSpPr>
          <p:cNvPr id="14" name="Scenario row 4"/>
          <p:cNvSpPr/>
          <p:nvPr/>
        </p:nvSpPr>
        <p:spPr>
          <a:xfrm>
            <a:off x="548640" y="3282696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minor repair on existing equipment used in business operations:</a:t>
            </a:r>
            <a:endParaRPr lang="en-US" sz="1500" dirty="0"/>
          </a:p>
        </p:txBody>
      </p:sp>
      <p:sp>
        <p:nvSpPr>
          <p:cNvPr id="15" name="Scenario badge 4"/>
          <p:cNvSpPr/>
          <p:nvPr/>
        </p:nvSpPr>
        <p:spPr>
          <a:xfrm>
            <a:off x="667512" y="3374136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cenario answer 4"/>
          <p:cNvSpPr/>
          <p:nvPr/>
        </p:nvSpPr>
        <p:spPr>
          <a:xfrm>
            <a:off x="7891272" y="3355848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Expensed</a:t>
            </a:r>
            <a:endParaRPr lang="en-US" sz="1600" dirty="0"/>
          </a:p>
        </p:txBody>
      </p:sp>
      <p:sp>
        <p:nvSpPr>
          <p:cNvPr id="17" name="Scenario row 5"/>
          <p:cNvSpPr/>
          <p:nvPr/>
        </p:nvSpPr>
        <p:spPr>
          <a:xfrm>
            <a:off x="548640" y="3904488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next to the production facility held for use next year as a place to build a warehouse:</a:t>
            </a:r>
            <a:endParaRPr lang="en-US" sz="1500" dirty="0"/>
          </a:p>
        </p:txBody>
      </p:sp>
      <p:sp>
        <p:nvSpPr>
          <p:cNvPr id="18" name="Scenario badge 5"/>
          <p:cNvSpPr/>
          <p:nvPr/>
        </p:nvSpPr>
        <p:spPr>
          <a:xfrm>
            <a:off x="667512" y="3995928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Scenario answer 5"/>
          <p:cNvSpPr/>
          <p:nvPr/>
        </p:nvSpPr>
        <p:spPr>
          <a:xfrm>
            <a:off x="7891272" y="3977640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2A9D8F"/>
          </a:solidFill>
          <a:ln w="6350">
            <a:solidFill>
              <a:srgbClr val="2A9D8F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Asset-Property, plant, and equipment</a:t>
            </a:r>
            <a:endParaRPr lang="en-US" sz="1400" dirty="0"/>
          </a:p>
        </p:txBody>
      </p:sp>
      <p:sp>
        <p:nvSpPr>
          <p:cNvPr id="20" name="Scenario row 6"/>
          <p:cNvSpPr/>
          <p:nvPr/>
        </p:nvSpPr>
        <p:spPr>
          <a:xfrm>
            <a:off x="548640" y="452628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held for future resale when the value increases:</a:t>
            </a:r>
            <a:endParaRPr lang="en-US" sz="1500" dirty="0"/>
          </a:p>
        </p:txBody>
      </p:sp>
      <p:sp>
        <p:nvSpPr>
          <p:cNvPr id="21" name="Scenario badge 6"/>
          <p:cNvSpPr/>
          <p:nvPr/>
        </p:nvSpPr>
        <p:spPr>
          <a:xfrm>
            <a:off x="667512" y="4617720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Scenario answer 6"/>
          <p:cNvSpPr/>
          <p:nvPr/>
        </p:nvSpPr>
        <p:spPr>
          <a:xfrm>
            <a:off x="7891272" y="4599432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F2B84B"/>
          </a:solidFill>
          <a:ln w="6350">
            <a:solidFill>
              <a:srgbClr val="F2B84B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600" dirty="0"/>
          </a:p>
        </p:txBody>
      </p:sp>
      <p:sp>
        <p:nvSpPr>
          <p:cNvPr id="23" name="Scenario row 7"/>
          <p:cNvSpPr/>
          <p:nvPr/>
        </p:nvSpPr>
        <p:spPr>
          <a:xfrm>
            <a:off x="548640" y="5148072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used in the production process:</a:t>
            </a:r>
            <a:endParaRPr lang="en-US" sz="1500" dirty="0"/>
          </a:p>
        </p:txBody>
      </p:sp>
      <p:sp>
        <p:nvSpPr>
          <p:cNvPr id="24" name="Scenario badge 7"/>
          <p:cNvSpPr/>
          <p:nvPr/>
        </p:nvSpPr>
        <p:spPr>
          <a:xfrm>
            <a:off x="667512" y="5239512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Scenario answer 7"/>
          <p:cNvSpPr/>
          <p:nvPr/>
        </p:nvSpPr>
        <p:spPr>
          <a:xfrm>
            <a:off x="7891272" y="5221224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2A9D8F"/>
          </a:solidFill>
          <a:ln w="6350">
            <a:solidFill>
              <a:srgbClr val="2A9D8F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Asset-Property, plant, and equipment</a:t>
            </a:r>
            <a:endParaRPr lang="en-US" sz="1400" dirty="0"/>
          </a:p>
        </p:txBody>
      </p:sp>
      <p:sp>
        <p:nvSpPr>
          <p:cNvPr id="26" name="Scenario row 8"/>
          <p:cNvSpPr/>
          <p:nvPr/>
        </p:nvSpPr>
        <p:spPr>
          <a:xfrm>
            <a:off x="548640" y="5769864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E8F2"/>
            </a:solidFill>
          </a:ln>
        </p:spPr>
        <p:txBody>
          <a:bodyPr wrap="square" lIns="7112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for $2,000 and a printer for $2,400 and they are both on the same invoice:</a:t>
            </a:r>
            <a:endParaRPr lang="en-US" sz="1500" dirty="0"/>
          </a:p>
        </p:txBody>
      </p:sp>
      <p:sp>
        <p:nvSpPr>
          <p:cNvPr id="27" name="Scenario badge 8"/>
          <p:cNvSpPr/>
          <p:nvPr/>
        </p:nvSpPr>
        <p:spPr>
          <a:xfrm>
            <a:off x="667512" y="5861304"/>
            <a:ext cx="365760" cy="365760"/>
          </a:xfrm>
          <a:prstGeom prst="ellipse">
            <a:avLst/>
          </a:prstGeom>
          <a:solidFill>
            <a:srgbClr val="E3EEF8"/>
          </a:solidFill>
          <a:ln w="6350">
            <a:solidFill>
              <a:srgbClr val="E3EE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Scenario answer 8"/>
          <p:cNvSpPr/>
          <p:nvPr/>
        </p:nvSpPr>
        <p:spPr>
          <a:xfrm>
            <a:off x="7891272" y="5843016"/>
            <a:ext cx="3657600" cy="402336"/>
          </a:xfrm>
          <a:prstGeom prst="roundRect">
            <a:avLst>
              <a:gd name="adj" fmla="val 22727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Expensed</a:t>
            </a:r>
            <a:endParaRPr lang="en-US" sz="1600" dirty="0"/>
          </a:p>
        </p:txBody>
      </p:sp>
      <p:sp>
        <p:nvSpPr>
          <p:cNvPr id="29" name="Footer"/>
          <p:cNvSpPr txBox="1"/>
          <p:nvPr/>
        </p:nvSpPr>
        <p:spPr>
          <a:xfrm>
            <a:off x="54864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 |  Offsite Training</a:t>
            </a:r>
            <a:endParaRPr lang="en-US" sz="10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E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r 13 checklist page 1 frame"/>
          <p:cNvSpPr/>
          <p:nvPr/>
        </p:nvSpPr>
        <p:spPr>
          <a:xfrm>
            <a:off x="757764" y="411480"/>
            <a:ext cx="4932172" cy="6035040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3" name="Per 13 checklist page 1" descr="/tmp/claude-0/-home-user-Ppapp/b4da115c-35eb-5dad-8ee6-555569176c7b/scratchpad/v2/prep/per1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484" y="457200"/>
            <a:ext cx="4840732" cy="5943600"/>
          </a:xfrm>
          <a:prstGeom prst="rect">
            <a:avLst/>
          </a:prstGeom>
        </p:spPr>
      </p:pic>
      <p:sp>
        <p:nvSpPr>
          <p:cNvPr id="4" name="Per 13 checklist page 2 frame"/>
          <p:cNvSpPr/>
          <p:nvPr/>
        </p:nvSpPr>
        <p:spPr>
          <a:xfrm>
            <a:off x="6147136" y="411480"/>
            <a:ext cx="5286796" cy="6035040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</p:spPr>
      </p:sp>
      <p:pic>
        <p:nvPicPr>
          <p:cNvPr id="5" name="Per 13 checklist page 2" descr="/tmp/claude-0/-home-user-Ppapp/b4da115c-35eb-5dad-8ee6-555569176c7b/scratchpad/v2/prep/per13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856" y="457200"/>
            <a:ext cx="5195356" cy="59436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1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B9CD3">
              <a:alpha val="10000"/>
            </a:srgbClr>
          </a:solidFill>
          <a:ln/>
        </p:spPr>
      </p:sp>
      <p:sp>
        <p:nvSpPr>
          <p:cNvPr id="3" name="Decor 2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4B9CD3">
              <a:alpha val="8000"/>
            </a:srgbClr>
          </a:solidFill>
          <a:ln/>
        </p:spPr>
      </p:sp>
      <p:sp>
        <p:nvSpPr>
          <p:cNvPr id="4" name="Photo ring"/>
          <p:cNvSpPr/>
          <p:nvPr/>
        </p:nvSpPr>
        <p:spPr>
          <a:xfrm>
            <a:off x="685800" y="868680"/>
            <a:ext cx="5394960" cy="5394960"/>
          </a:xfrm>
          <a:prstGeom prst="ellipse">
            <a:avLst/>
          </a:prstGeom>
          <a:solidFill>
            <a:srgbClr val="4B9CD3">
              <a:alpha val="30000"/>
            </a:srgbClr>
          </a:solidFill>
          <a:ln/>
        </p:spPr>
      </p:sp>
      <p:pic>
        <p:nvPicPr>
          <p:cNvPr id="5" name="Thanks photo" descr="/tmp/claude-0/-home-user-Ppapp/b4da115c-35eb-5dad-8ee6-555569176c7b/scratchpad/v2/prep/tha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5120640" cy="5120640"/>
          </a:xfrm>
          <a:prstGeom prst="ellipse">
            <a:avLst/>
          </a:prstGeom>
        </p:spPr>
      </p:pic>
      <p:sp>
        <p:nvSpPr>
          <p:cNvPr id="6" name="Thanks text"/>
          <p:cNvSpPr txBox="1"/>
          <p:nvPr/>
        </p:nvSpPr>
        <p:spPr>
          <a:xfrm>
            <a:off x="6400800" y="23317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6600" dirty="0"/>
          </a:p>
        </p:txBody>
      </p:sp>
      <p:sp>
        <p:nvSpPr>
          <p:cNvPr id="7" name="Thanks aside"/>
          <p:cNvSpPr txBox="1"/>
          <p:nvPr/>
        </p:nvSpPr>
        <p:spPr>
          <a:xfrm>
            <a:off x="640080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all your suspense accounts be zero.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Carolina Accounting &amp; Tax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Tax Organizer</dc:title>
  <dc:subject>PptxGenJS Presentation</dc:subject>
  <dc:creator>Bijal Khatiwala</dc:creator>
  <cp:lastModifiedBy>Bijal Khatiwala</cp:lastModifiedBy>
  <cp:revision>1</cp:revision>
  <dcterms:created xsi:type="dcterms:W3CDTF">2026-09-30T21:12:52Z</dcterms:created>
  <dcterms:modified xsi:type="dcterms:W3CDTF">2026-09-30T21:12:52Z</dcterms:modified>
</cp:coreProperties>
</file>